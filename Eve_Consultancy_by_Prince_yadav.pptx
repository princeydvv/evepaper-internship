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9672"/>
    <a:srgbClr val="00FFC0"/>
    <a:srgbClr val="10AD83"/>
    <a:srgbClr val="00FCFF"/>
    <a:srgbClr val="0090FF"/>
    <a:srgbClr val="0609DA"/>
    <a:srgbClr val="4FC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84"/>
  </p:normalViewPr>
  <p:slideViewPr>
    <p:cSldViewPr snapToGrid="0">
      <p:cViewPr varScale="1">
        <p:scale>
          <a:sx n="147" d="100"/>
          <a:sy n="147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D449-3A55-9759-9BEB-193785429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6636D-2D98-3B40-ABEA-A29B8CB8A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9D2B1-E888-2DD2-FDA8-2E411BB6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DD401-E7C7-BD3B-19D4-820CF6DE1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002AE-6352-C15C-D8E4-6915E58FF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8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AC17-508C-A628-973A-45BB974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82647-2ED6-E262-2BE0-EA3ECCDA5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5BE34-A397-812B-FD73-DCE5A67F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062AD-380F-8328-CD7F-3097933F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20D0-A3B4-7BCA-0D80-6F5B6F99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7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227F-BD18-43B0-3CAB-DF16F1FC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BA9D9-DE25-EF48-0B38-7CC7D83FB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AF62-9B87-E60B-354C-02BE5C3E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37999-583E-736C-CA82-4FD5E083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12251-764F-60E9-8408-A52EA2A4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0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A1E54-4C93-D2CB-850C-1D3C92A56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635EC-86AE-DFDF-94DB-B2DA36F68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B894E-3EAA-9544-0E14-15EA1E41F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472C7-33FD-EEB0-8869-83965A41F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F76FC-EBF2-106B-AD04-C6C17B3B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98CAD-3BE4-087F-49B0-77E69F1C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3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967D-D57B-66F2-2556-248FB7B58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CFFDF-E154-1A3E-B5B6-6307126A3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47318-20FB-EED3-52F7-4BD2B1584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86F70-7E19-7BAC-513F-6691A15DD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E19D9-4D78-130E-9E2A-D0D9AE6D7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94CFB-3636-79C6-7D6D-D65883B4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44063-EC84-D40B-9371-F3B87A85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B452D-8189-851C-3800-713CE76D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2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83BDD-FB11-D582-3A6D-BD4A4690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25B86-FABE-723B-A227-758ABC28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7B0BC5-B44F-04E2-57CD-BBB427E49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74ABA-A430-6219-2FF0-0F324EB7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A191B-22E5-7EAD-B84C-03D122EC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91731-FADD-7F91-8E85-C7FF89D9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B5284-0D59-AC30-6027-381E415B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9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EBCE-11B4-BA8E-C4F2-C9F50F455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E3E79-004B-251E-A19E-9B5A741FF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EFB63-1503-5C3C-B7BD-5B6B68FAB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AD1B9-406D-B804-6BD8-90291D5D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63E52-3AD3-89E0-63BF-23D6BE512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2BBFB-8AEB-1CC2-BD20-1FD24B20B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0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4E23-3651-D411-4C8A-B4C06E678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08400-5F39-E0ED-440E-25804CE83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67388-5D32-D950-A184-32F73ABF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DCFE4-1EFE-0851-1A2B-FA31A6C1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AB25E-76A5-E70E-D3F2-6886B0AEB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0E7E8-C15C-AE27-E602-FE91D85DD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BD22-0A27-BDF5-BEF7-71A9CA36B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1DB1E-1B84-3394-92EA-C336169CF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356A9-5919-82F0-ABA4-8CE8C59A1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BC76-F0EE-A677-E76A-0A1C00C3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DB63-DA2D-C6D2-58C4-2CD4410F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6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52FC4-0CCF-0CDB-D981-ECE82493B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C0052-9C82-5892-0315-5B24E59F8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32CF6-89C8-D068-DC94-5A6A02BF5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BEAA3-75E0-DB78-1AF9-6050E2D88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25765-B217-757F-23D0-9D637278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9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2C7FBE-2077-D15D-5171-5FB6E1033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40437-BADA-C329-84DB-607B159B1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6B3A4-2B38-F21D-9E9E-96FFD37FD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85A01-2FA1-E74C-A7D8-C87169066AE1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77312-E22F-641F-A252-FFC18B1F6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FD58F-D366-AF45-6D60-DD0463EE4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6EB5A-96EB-B04E-9B40-ABDE7B4D2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2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rminator 17">
            <a:extLst>
              <a:ext uri="{FF2B5EF4-FFF2-40B4-BE49-F238E27FC236}">
                <a16:creationId xmlns:a16="http://schemas.microsoft.com/office/drawing/2014/main" id="{1DF8A884-E18D-832C-A302-92A771CD3E41}"/>
              </a:ext>
            </a:extLst>
          </p:cNvPr>
          <p:cNvSpPr/>
          <p:nvPr/>
        </p:nvSpPr>
        <p:spPr>
          <a:xfrm>
            <a:off x="105779" y="3711138"/>
            <a:ext cx="1251121" cy="369332"/>
          </a:xfrm>
          <a:prstGeom prst="flowChartTerminator">
            <a:avLst/>
          </a:prstGeom>
          <a:solidFill>
            <a:schemeClr val="bg1">
              <a:lumMod val="85000"/>
              <a:alpha val="6150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6C5AE4-222C-356C-F374-D21F5FFD3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10"/>
          <a:stretch>
            <a:fillRect/>
          </a:stretch>
        </p:blipFill>
        <p:spPr>
          <a:xfrm>
            <a:off x="6326658" y="-61784"/>
            <a:ext cx="6068555" cy="6981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EF350E-7B1F-F8F5-1B31-41EE03DCC520}"/>
              </a:ext>
            </a:extLst>
          </p:cNvPr>
          <p:cNvSpPr txBox="1"/>
          <p:nvPr/>
        </p:nvSpPr>
        <p:spPr>
          <a:xfrm>
            <a:off x="108122" y="123891"/>
            <a:ext cx="3932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6FFC"/>
                </a:solidFill>
                <a:effectLst/>
                <a:latin typeface="Sora"/>
              </a:rPr>
              <a:t>Prince Yadav | Business Analyst Intern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3AE18F-4BF6-DD5C-D70A-5F0D0CEB04DE}"/>
              </a:ext>
            </a:extLst>
          </p:cNvPr>
          <p:cNvSpPr txBox="1"/>
          <p:nvPr/>
        </p:nvSpPr>
        <p:spPr>
          <a:xfrm>
            <a:off x="108122" y="425261"/>
            <a:ext cx="1251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Presenter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473D63-E6BB-2FA4-43F9-E8BB6220F0FE}"/>
              </a:ext>
            </a:extLst>
          </p:cNvPr>
          <p:cNvSpPr txBox="1"/>
          <p:nvPr/>
        </p:nvSpPr>
        <p:spPr>
          <a:xfrm>
            <a:off x="154874" y="3618805"/>
            <a:ext cx="1671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6FFC"/>
                </a:solidFill>
                <a:effectLst/>
                <a:latin typeface="Sora"/>
              </a:rPr>
              <a:t>Overview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ACD8E4-E005-0AC6-CF52-F9D822F554B8}"/>
              </a:ext>
            </a:extLst>
          </p:cNvPr>
          <p:cNvSpPr txBox="1"/>
          <p:nvPr/>
        </p:nvSpPr>
        <p:spPr>
          <a:xfrm>
            <a:off x="108122" y="5884223"/>
            <a:ext cx="632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616B7C"/>
                </a:solidFill>
                <a:effectLst/>
                <a:latin typeface="Be Vietnam Pro"/>
              </a:rPr>
              <a:t>Comprehensive Business Consulting and Strategic Compliance Solutions for the Modern Entrepreneur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66553B-2E60-2435-418B-ED578F5365D7}"/>
              </a:ext>
            </a:extLst>
          </p:cNvPr>
          <p:cNvSpPr txBox="1"/>
          <p:nvPr/>
        </p:nvSpPr>
        <p:spPr>
          <a:xfrm>
            <a:off x="108122" y="3895804"/>
            <a:ext cx="56542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i="0" dirty="0">
                <a:solidFill>
                  <a:srgbClr val="04142D"/>
                </a:solidFill>
                <a:effectLst/>
                <a:latin typeface="Sora"/>
              </a:rPr>
              <a:t>Eve Consultancy Services</a:t>
            </a:r>
            <a:endParaRPr lang="en-US" sz="6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E9539C-D149-FC50-1ED5-60B8815B780B}"/>
              </a:ext>
            </a:extLst>
          </p:cNvPr>
          <p:cNvSpPr/>
          <p:nvPr/>
        </p:nvSpPr>
        <p:spPr>
          <a:xfrm>
            <a:off x="211094" y="5812489"/>
            <a:ext cx="2544463" cy="45719"/>
          </a:xfrm>
          <a:prstGeom prst="rect">
            <a:avLst/>
          </a:prstGeom>
          <a:gradFill flip="none" rotWithShape="1">
            <a:gsLst>
              <a:gs pos="64000">
                <a:srgbClr val="4FC9FA"/>
              </a:gs>
              <a:gs pos="95000">
                <a:srgbClr val="00FCFF"/>
              </a:gs>
              <a:gs pos="0">
                <a:srgbClr val="0609DA"/>
              </a:gs>
              <a:gs pos="34000">
                <a:srgbClr val="0609DA">
                  <a:lumMod val="50000"/>
                  <a:lumOff val="5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7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5" grpId="0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rminator 26">
            <a:extLst>
              <a:ext uri="{FF2B5EF4-FFF2-40B4-BE49-F238E27FC236}">
                <a16:creationId xmlns:a16="http://schemas.microsoft.com/office/drawing/2014/main" id="{B4F8F46D-59E7-8A8B-3158-AEC3049181E5}"/>
              </a:ext>
            </a:extLst>
          </p:cNvPr>
          <p:cNvSpPr/>
          <p:nvPr/>
        </p:nvSpPr>
        <p:spPr>
          <a:xfrm>
            <a:off x="243016" y="501135"/>
            <a:ext cx="1066800" cy="369332"/>
          </a:xfrm>
          <a:prstGeom prst="flowChartTerminator">
            <a:avLst/>
          </a:prstGeom>
          <a:solidFill>
            <a:schemeClr val="bg1">
              <a:lumMod val="85000"/>
              <a:alpha val="6150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444D2-50A0-F103-8036-D9A586527D82}"/>
              </a:ext>
            </a:extLst>
          </p:cNvPr>
          <p:cNvSpPr txBox="1"/>
          <p:nvPr/>
        </p:nvSpPr>
        <p:spPr>
          <a:xfrm>
            <a:off x="268759" y="870467"/>
            <a:ext cx="5106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4142D"/>
                </a:solidFill>
                <a:effectLst/>
                <a:latin typeface="Sora"/>
              </a:rPr>
              <a:t>Empowering Business Excellence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3F6F5-F5F0-00EA-FA44-9954EA5314B3}"/>
              </a:ext>
            </a:extLst>
          </p:cNvPr>
          <p:cNvSpPr txBox="1"/>
          <p:nvPr/>
        </p:nvSpPr>
        <p:spPr>
          <a:xfrm>
            <a:off x="268759" y="1578352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A dedicated partner for startups and SMEs navigating the complexities of business setup and legal operations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3D952-4A51-887D-E254-1DCD434D131C}"/>
              </a:ext>
            </a:extLst>
          </p:cNvPr>
          <p:cNvSpPr txBox="1"/>
          <p:nvPr/>
        </p:nvSpPr>
        <p:spPr>
          <a:xfrm>
            <a:off x="268759" y="501135"/>
            <a:ext cx="1201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22FF"/>
                </a:solidFill>
                <a:effectLst/>
                <a:latin typeface="Be Vietnam Pro"/>
              </a:rPr>
              <a:t>About Us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AB2902-09F9-1873-B989-2136204A4956}"/>
              </a:ext>
            </a:extLst>
          </p:cNvPr>
          <p:cNvSpPr/>
          <p:nvPr/>
        </p:nvSpPr>
        <p:spPr>
          <a:xfrm>
            <a:off x="384088" y="1463160"/>
            <a:ext cx="2544463" cy="45719"/>
          </a:xfrm>
          <a:prstGeom prst="rect">
            <a:avLst/>
          </a:prstGeom>
          <a:gradFill flip="none" rotWithShape="1">
            <a:gsLst>
              <a:gs pos="64000">
                <a:srgbClr val="4FC9FA"/>
              </a:gs>
              <a:gs pos="95000">
                <a:srgbClr val="00FCFF"/>
              </a:gs>
              <a:gs pos="0">
                <a:srgbClr val="0609DA"/>
              </a:gs>
              <a:gs pos="34000">
                <a:srgbClr val="0609DA">
                  <a:lumMod val="50000"/>
                  <a:lumOff val="5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295CB11-340E-28F1-37FC-77A7A0328441}"/>
              </a:ext>
            </a:extLst>
          </p:cNvPr>
          <p:cNvSpPr/>
          <p:nvPr/>
        </p:nvSpPr>
        <p:spPr>
          <a:xfrm>
            <a:off x="9625914" y="753763"/>
            <a:ext cx="2323070" cy="5350476"/>
          </a:xfrm>
          <a:prstGeom prst="roundRect">
            <a:avLst/>
          </a:prstGeom>
          <a:solidFill>
            <a:srgbClr val="10AD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F220FA1-BF9F-983F-36AA-F0712DF56FE9}"/>
              </a:ext>
            </a:extLst>
          </p:cNvPr>
          <p:cNvSpPr/>
          <p:nvPr/>
        </p:nvSpPr>
        <p:spPr>
          <a:xfrm>
            <a:off x="7129849" y="1705231"/>
            <a:ext cx="2323070" cy="4399007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9C4B3C0-1C50-7A22-BEBF-FBCEF7554D3C}"/>
              </a:ext>
            </a:extLst>
          </p:cNvPr>
          <p:cNvSpPr/>
          <p:nvPr/>
        </p:nvSpPr>
        <p:spPr>
          <a:xfrm>
            <a:off x="4633784" y="2508422"/>
            <a:ext cx="2323070" cy="359581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9AA0F87-C4E4-5AA8-1485-7FB4B85CE5E3}"/>
              </a:ext>
            </a:extLst>
          </p:cNvPr>
          <p:cNvSpPr/>
          <p:nvPr/>
        </p:nvSpPr>
        <p:spPr>
          <a:xfrm>
            <a:off x="2137719" y="3311611"/>
            <a:ext cx="2323070" cy="2792626"/>
          </a:xfrm>
          <a:prstGeom prst="roundRect">
            <a:avLst/>
          </a:prstGeom>
          <a:solidFill>
            <a:srgbClr val="060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8F10EF-028B-8CBB-4E7D-9CF2CCB87928}"/>
              </a:ext>
            </a:extLst>
          </p:cNvPr>
          <p:cNvSpPr txBox="1"/>
          <p:nvPr/>
        </p:nvSpPr>
        <p:spPr>
          <a:xfrm>
            <a:off x="2230392" y="4306329"/>
            <a:ext cx="21747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Provides specialized </a:t>
            </a:r>
            <a:r>
              <a:rPr lang="en-US" b="1" i="0" dirty="0">
                <a:solidFill>
                  <a:srgbClr val="FFFFFF"/>
                </a:solidFill>
                <a:effectLst/>
                <a:latin typeface="Be Vietnam Pro"/>
              </a:rPr>
              <a:t>business consulting</a:t>
            </a:r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 services tailored for entrepreneurs.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4D99A-3A91-87DE-DE32-0FF009142FFF}"/>
              </a:ext>
            </a:extLst>
          </p:cNvPr>
          <p:cNvSpPr txBox="1"/>
          <p:nvPr/>
        </p:nvSpPr>
        <p:spPr>
          <a:xfrm>
            <a:off x="4799056" y="4029331"/>
            <a:ext cx="19925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Supports startups and </a:t>
            </a:r>
            <a:r>
              <a:rPr lang="en-US" b="1" i="0" dirty="0">
                <a:solidFill>
                  <a:srgbClr val="FFFFFF"/>
                </a:solidFill>
                <a:effectLst/>
                <a:latin typeface="Be Vietnam Pro"/>
              </a:rPr>
              <a:t>SMEs</a:t>
            </a:r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 in managing complex legal and registration processes.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1D27CC-F903-9596-1B1D-536CF21D671D}"/>
              </a:ext>
            </a:extLst>
          </p:cNvPr>
          <p:cNvSpPr txBox="1"/>
          <p:nvPr/>
        </p:nvSpPr>
        <p:spPr>
          <a:xfrm>
            <a:off x="7295121" y="4029331"/>
            <a:ext cx="19925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Offers comprehensive </a:t>
            </a:r>
            <a:r>
              <a:rPr lang="en-US" b="1" i="0" dirty="0">
                <a:solidFill>
                  <a:srgbClr val="FFFFFF"/>
                </a:solidFill>
                <a:effectLst/>
                <a:latin typeface="Be Vietnam Pro"/>
              </a:rPr>
              <a:t>financial and taxation support</a:t>
            </a:r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 for operational efficiency.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ECA27C-7F07-E4E2-3C1B-9F28802CDB47}"/>
              </a:ext>
            </a:extLst>
          </p:cNvPr>
          <p:cNvSpPr txBox="1"/>
          <p:nvPr/>
        </p:nvSpPr>
        <p:spPr>
          <a:xfrm>
            <a:off x="9829799" y="4583328"/>
            <a:ext cx="2119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Functions as a key component of the broader </a:t>
            </a:r>
            <a:r>
              <a:rPr lang="en-US" b="1" i="0" dirty="0">
                <a:solidFill>
                  <a:srgbClr val="FFFFFF"/>
                </a:solidFill>
                <a:effectLst/>
                <a:latin typeface="Be Vietnam Pro"/>
              </a:rPr>
              <a:t>Eve ecosystem</a:t>
            </a:r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6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 animBg="1"/>
      <p:bldP spid="11" grpId="0" animBg="1"/>
      <p:bldP spid="16" grpId="0" animBg="1"/>
      <p:bldP spid="17" grpId="0" animBg="1"/>
      <p:bldP spid="18" grpId="0" animBg="1"/>
      <p:bldP spid="20" grpId="0"/>
      <p:bldP spid="22" grpId="0"/>
      <p:bldP spid="24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819A5A6-6789-D4A0-3968-BF8CCB40D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553" y="0"/>
            <a:ext cx="420481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B72A86-C782-8A04-63E3-D4F5AD6C175D}"/>
              </a:ext>
            </a:extLst>
          </p:cNvPr>
          <p:cNvSpPr txBox="1"/>
          <p:nvPr/>
        </p:nvSpPr>
        <p:spPr>
          <a:xfrm>
            <a:off x="169905" y="1780610"/>
            <a:ext cx="34259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4142D"/>
                </a:solidFill>
                <a:effectLst/>
                <a:latin typeface="Sora"/>
              </a:rPr>
              <a:t>Our Strategic Foundation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5CF272-2B0D-9BB7-BCD3-69C685B002D4}"/>
              </a:ext>
            </a:extLst>
          </p:cNvPr>
          <p:cNvSpPr txBox="1"/>
          <p:nvPr/>
        </p:nvSpPr>
        <p:spPr>
          <a:xfrm>
            <a:off x="169905" y="2369522"/>
            <a:ext cx="42048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Simplifying complex operations to empower the next generation of global entrepreneurs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756B07-DA82-1366-2DE1-982310477DC3}"/>
              </a:ext>
            </a:extLst>
          </p:cNvPr>
          <p:cNvSpPr/>
          <p:nvPr/>
        </p:nvSpPr>
        <p:spPr>
          <a:xfrm>
            <a:off x="318186" y="2243008"/>
            <a:ext cx="2544463" cy="45719"/>
          </a:xfrm>
          <a:prstGeom prst="rect">
            <a:avLst/>
          </a:prstGeom>
          <a:gradFill flip="none" rotWithShape="1">
            <a:gsLst>
              <a:gs pos="64000">
                <a:srgbClr val="4FC9FA"/>
              </a:gs>
              <a:gs pos="95000">
                <a:srgbClr val="00FCFF"/>
              </a:gs>
              <a:gs pos="0">
                <a:srgbClr val="0609DA"/>
              </a:gs>
              <a:gs pos="34000">
                <a:srgbClr val="0609DA">
                  <a:lumMod val="50000"/>
                  <a:lumOff val="5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D5BD79-1084-616C-8893-44A6949891E5}"/>
              </a:ext>
            </a:extLst>
          </p:cNvPr>
          <p:cNvSpPr txBox="1"/>
          <p:nvPr/>
        </p:nvSpPr>
        <p:spPr>
          <a:xfrm>
            <a:off x="8621927" y="843349"/>
            <a:ext cx="1868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616B7C"/>
                </a:solidFill>
                <a:effectLst/>
                <a:latin typeface="Sora"/>
              </a:rPr>
              <a:t>Corporate </a:t>
            </a:r>
            <a:r>
              <a:rPr lang="en-US" b="1" i="0" dirty="0">
                <a:solidFill>
                  <a:srgbClr val="006FFC"/>
                </a:solidFill>
                <a:effectLst/>
                <a:latin typeface="Sora"/>
              </a:rPr>
              <a:t>Vision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016A82-5D9F-CA76-6858-1AFBF681A1E7}"/>
              </a:ext>
            </a:extLst>
          </p:cNvPr>
          <p:cNvSpPr txBox="1"/>
          <p:nvPr/>
        </p:nvSpPr>
        <p:spPr>
          <a:xfrm>
            <a:off x="8621927" y="1292304"/>
            <a:ext cx="34969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616B7C"/>
                </a:solidFill>
                <a:effectLst/>
                <a:latin typeface="Be Vietnam Pro"/>
              </a:rPr>
              <a:t>To simplify business operations and empower entrepreneurs by providing reliable consulting and compliance services.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60539C-E01D-49B2-9757-F36C422B9F30}"/>
              </a:ext>
            </a:extLst>
          </p:cNvPr>
          <p:cNvSpPr txBox="1"/>
          <p:nvPr/>
        </p:nvSpPr>
        <p:spPr>
          <a:xfrm>
            <a:off x="8621927" y="2751430"/>
            <a:ext cx="1770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616B7C"/>
                </a:solidFill>
                <a:effectLst/>
                <a:latin typeface="Sora"/>
              </a:rPr>
              <a:t>Service </a:t>
            </a:r>
            <a:r>
              <a:rPr lang="en-US" b="1" i="0" dirty="0">
                <a:solidFill>
                  <a:srgbClr val="006FFC"/>
                </a:solidFill>
                <a:effectLst/>
                <a:latin typeface="Sora"/>
              </a:rPr>
              <a:t>Mission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C09B5A-1525-F86B-65FD-7EFE97A34FCB}"/>
              </a:ext>
            </a:extLst>
          </p:cNvPr>
          <p:cNvSpPr txBox="1"/>
          <p:nvPr/>
        </p:nvSpPr>
        <p:spPr>
          <a:xfrm>
            <a:off x="8621927" y="3152846"/>
            <a:ext cx="3381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616B7C"/>
                </a:solidFill>
                <a:effectLst/>
                <a:latin typeface="Be Vietnam Pro"/>
              </a:rPr>
              <a:t>Provide professional consulting for startups while simplifying complex legal and taxation procedures.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F8006F-9898-7C19-3EC6-3A363CD42B51}"/>
              </a:ext>
            </a:extLst>
          </p:cNvPr>
          <p:cNvSpPr txBox="1"/>
          <p:nvPr/>
        </p:nvSpPr>
        <p:spPr>
          <a:xfrm>
            <a:off x="8621927" y="4553883"/>
            <a:ext cx="1895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616B7C"/>
                </a:solidFill>
                <a:effectLst/>
                <a:latin typeface="Sora"/>
              </a:rPr>
              <a:t>Growth </a:t>
            </a:r>
            <a:r>
              <a:rPr lang="en-US" b="1" i="0" dirty="0">
                <a:solidFill>
                  <a:srgbClr val="006FFC"/>
                </a:solidFill>
                <a:effectLst/>
                <a:latin typeface="Sora"/>
              </a:rPr>
              <a:t>Support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EA981C-4CA9-DD74-6C3E-43189960F4B0}"/>
              </a:ext>
            </a:extLst>
          </p:cNvPr>
          <p:cNvSpPr txBox="1"/>
          <p:nvPr/>
        </p:nvSpPr>
        <p:spPr>
          <a:xfrm>
            <a:off x="8621927" y="5013388"/>
            <a:ext cx="30315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616B7C"/>
                </a:solidFill>
                <a:effectLst/>
                <a:latin typeface="Be Vietnam Pro"/>
              </a:rPr>
              <a:t>Deliver reliable, affordable services that support long-term business growth with strategic guidance.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7227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10" grpId="0"/>
      <p:bldP spid="12" grpId="0"/>
      <p:bldP spid="14" grpId="0"/>
      <p:bldP spid="16" grpId="0"/>
      <p:bldP spid="18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rminator 22">
            <a:extLst>
              <a:ext uri="{FF2B5EF4-FFF2-40B4-BE49-F238E27FC236}">
                <a16:creationId xmlns:a16="http://schemas.microsoft.com/office/drawing/2014/main" id="{308176A1-26A8-26D2-C592-F7FEAA014919}"/>
              </a:ext>
            </a:extLst>
          </p:cNvPr>
          <p:cNvSpPr/>
          <p:nvPr/>
        </p:nvSpPr>
        <p:spPr>
          <a:xfrm>
            <a:off x="13412" y="599772"/>
            <a:ext cx="1246977" cy="344835"/>
          </a:xfrm>
          <a:prstGeom prst="flowChartTerminator">
            <a:avLst/>
          </a:prstGeom>
          <a:solidFill>
            <a:schemeClr val="bg1">
              <a:lumMod val="85000"/>
              <a:alpha val="6150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4BBD3C-CA86-A2A7-8494-2953DAE77206}"/>
              </a:ext>
            </a:extLst>
          </p:cNvPr>
          <p:cNvSpPr txBox="1"/>
          <p:nvPr/>
        </p:nvSpPr>
        <p:spPr>
          <a:xfrm>
            <a:off x="206976" y="575275"/>
            <a:ext cx="1053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22FF"/>
                </a:solidFill>
                <a:effectLst/>
                <a:latin typeface="Be Vietnam Pro"/>
              </a:rPr>
              <a:t>Services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BAEAC-A7E2-D3CA-B27C-F11948C60537}"/>
              </a:ext>
            </a:extLst>
          </p:cNvPr>
          <p:cNvSpPr txBox="1"/>
          <p:nvPr/>
        </p:nvSpPr>
        <p:spPr>
          <a:xfrm>
            <a:off x="206976" y="904215"/>
            <a:ext cx="42908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4142D"/>
                </a:solidFill>
                <a:effectLst/>
                <a:latin typeface="Sora"/>
              </a:rPr>
              <a:t>Core Service Offerings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2EF62-4FC8-7A60-0773-EAABE07FDEC8}"/>
              </a:ext>
            </a:extLst>
          </p:cNvPr>
          <p:cNvSpPr txBox="1"/>
          <p:nvPr/>
        </p:nvSpPr>
        <p:spPr>
          <a:xfrm>
            <a:off x="206976" y="157617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Navigating legal and financial requirements with expert advisory and seamless compliance support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187356-9502-E496-D58F-209A51BD8526}"/>
              </a:ext>
            </a:extLst>
          </p:cNvPr>
          <p:cNvSpPr/>
          <p:nvPr/>
        </p:nvSpPr>
        <p:spPr>
          <a:xfrm>
            <a:off x="305829" y="1488990"/>
            <a:ext cx="2544463" cy="45719"/>
          </a:xfrm>
          <a:prstGeom prst="rect">
            <a:avLst/>
          </a:prstGeom>
          <a:gradFill flip="none" rotWithShape="1">
            <a:gsLst>
              <a:gs pos="64000">
                <a:srgbClr val="4FC9FA"/>
              </a:gs>
              <a:gs pos="95000">
                <a:srgbClr val="00FCFF"/>
              </a:gs>
              <a:gs pos="0">
                <a:srgbClr val="0609DA"/>
              </a:gs>
              <a:gs pos="34000">
                <a:srgbClr val="0609DA">
                  <a:lumMod val="50000"/>
                  <a:lumOff val="5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B7CF9-3B29-2486-EC02-5D36E6E711ED}"/>
              </a:ext>
            </a:extLst>
          </p:cNvPr>
          <p:cNvSpPr txBox="1"/>
          <p:nvPr/>
        </p:nvSpPr>
        <p:spPr>
          <a:xfrm>
            <a:off x="305829" y="5082396"/>
            <a:ext cx="2729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Seamless </a:t>
            </a:r>
            <a:r>
              <a:rPr lang="en-US" b="1" i="0" dirty="0">
                <a:solidFill>
                  <a:srgbClr val="006FFC"/>
                </a:solidFill>
                <a:effectLst/>
                <a:latin typeface="Be Vietnam Pro"/>
              </a:rPr>
              <a:t>Company Registration</a:t>
            </a:r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 to legally establish new business entities.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E4BED3-74A3-D243-90CD-A02B95808E8A}"/>
              </a:ext>
            </a:extLst>
          </p:cNvPr>
          <p:cNvSpPr txBox="1"/>
          <p:nvPr/>
        </p:nvSpPr>
        <p:spPr>
          <a:xfrm>
            <a:off x="3472249" y="5082396"/>
            <a:ext cx="24342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Comprehensive </a:t>
            </a:r>
            <a:r>
              <a:rPr lang="en-US" b="1" i="0" dirty="0">
                <a:solidFill>
                  <a:srgbClr val="006FFC"/>
                </a:solidFill>
                <a:effectLst/>
                <a:latin typeface="Be Vietnam Pro"/>
              </a:rPr>
              <a:t>GST Registration</a:t>
            </a:r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 and Income Tax Filing services.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1CAB29-2DCE-0C72-A898-C7827277FEBF}"/>
              </a:ext>
            </a:extLst>
          </p:cNvPr>
          <p:cNvSpPr txBox="1"/>
          <p:nvPr/>
        </p:nvSpPr>
        <p:spPr>
          <a:xfrm>
            <a:off x="6406979" y="5082396"/>
            <a:ext cx="2749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Official </a:t>
            </a:r>
            <a:r>
              <a:rPr lang="en-US" b="1" i="0" dirty="0">
                <a:solidFill>
                  <a:srgbClr val="006FFC"/>
                </a:solidFill>
                <a:effectLst/>
                <a:latin typeface="Be Vietnam Pro"/>
              </a:rPr>
              <a:t>MSME Registration</a:t>
            </a:r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 to unlock vital government benefits and incentives.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C9C376-6CFC-72A5-F6DE-AFB6009C6CB9}"/>
              </a:ext>
            </a:extLst>
          </p:cNvPr>
          <p:cNvSpPr txBox="1"/>
          <p:nvPr/>
        </p:nvSpPr>
        <p:spPr>
          <a:xfrm>
            <a:off x="9560010" y="5082396"/>
            <a:ext cx="2631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Tailored </a:t>
            </a:r>
            <a:r>
              <a:rPr lang="en-US" b="1" i="0" dirty="0">
                <a:solidFill>
                  <a:srgbClr val="006FFC"/>
                </a:solidFill>
                <a:effectLst/>
                <a:latin typeface="Be Vietnam Pro"/>
              </a:rPr>
              <a:t>Startup Advisory</a:t>
            </a:r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 and ongoing business compliance support.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00426A-A744-2A23-94A8-7C03981CD156}"/>
              </a:ext>
            </a:extLst>
          </p:cNvPr>
          <p:cNvSpPr txBox="1"/>
          <p:nvPr/>
        </p:nvSpPr>
        <p:spPr>
          <a:xfrm>
            <a:off x="305829" y="3669957"/>
            <a:ext cx="10887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rgbClr val="0609DA"/>
                </a:solidFill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B13C5F-1EB4-E5AF-2557-B02F8E0F0925}"/>
              </a:ext>
            </a:extLst>
          </p:cNvPr>
          <p:cNvSpPr txBox="1"/>
          <p:nvPr/>
        </p:nvSpPr>
        <p:spPr>
          <a:xfrm>
            <a:off x="3472249" y="3669957"/>
            <a:ext cx="10887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rgbClr val="0609DA"/>
                </a:solidFill>
              </a:rPr>
              <a:t>02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08F61-8073-8509-8DA6-4941DF8FFAF8}"/>
              </a:ext>
            </a:extLst>
          </p:cNvPr>
          <p:cNvSpPr txBox="1"/>
          <p:nvPr/>
        </p:nvSpPr>
        <p:spPr>
          <a:xfrm>
            <a:off x="6406979" y="3669957"/>
            <a:ext cx="10887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rgbClr val="0609DA"/>
                </a:solidFill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991D52-2582-EC6B-F077-91D9A39B0114}"/>
              </a:ext>
            </a:extLst>
          </p:cNvPr>
          <p:cNvSpPr txBox="1"/>
          <p:nvPr/>
        </p:nvSpPr>
        <p:spPr>
          <a:xfrm>
            <a:off x="9560010" y="3669957"/>
            <a:ext cx="10887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rgbClr val="0609D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2879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 animBg="1"/>
      <p:bldP spid="12" grpId="0"/>
      <p:bldP spid="14" grpId="0"/>
      <p:bldP spid="16" grpId="0"/>
      <p:bldP spid="18" grpId="0"/>
      <p:bldP spid="19" grpId="0"/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CCE8B08-0466-8B92-09BD-48E9CBD5E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26" y="2267288"/>
            <a:ext cx="11511347" cy="3583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A3CF4A-8F28-57E7-4CA8-7CB59006F647}"/>
              </a:ext>
            </a:extLst>
          </p:cNvPr>
          <p:cNvSpPr txBox="1"/>
          <p:nvPr/>
        </p:nvSpPr>
        <p:spPr>
          <a:xfrm>
            <a:off x="2947342" y="165184"/>
            <a:ext cx="6297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solidFill>
                  <a:srgbClr val="04142D"/>
                </a:solidFill>
                <a:effectLst/>
                <a:latin typeface="Sora"/>
              </a:rPr>
              <a:t>Defining Our Target Market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D949AA-DC3B-FA4B-70C6-86F85070B03C}"/>
              </a:ext>
            </a:extLst>
          </p:cNvPr>
          <p:cNvSpPr txBox="1"/>
          <p:nvPr/>
        </p:nvSpPr>
        <p:spPr>
          <a:xfrm>
            <a:off x="2203619" y="886973"/>
            <a:ext cx="7784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Connecting with high-growth sectors and independent professionals in need of expert guidance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89FAA-B67B-4D16-E359-46E52F4808E2}"/>
              </a:ext>
            </a:extLst>
          </p:cNvPr>
          <p:cNvSpPr txBox="1"/>
          <p:nvPr/>
        </p:nvSpPr>
        <p:spPr>
          <a:xfrm>
            <a:off x="4502492" y="2455958"/>
            <a:ext cx="2227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616B7C"/>
                </a:solidFill>
                <a:effectLst/>
                <a:latin typeface="Sora"/>
              </a:rPr>
              <a:t>New </a:t>
            </a:r>
            <a:r>
              <a:rPr lang="en-US" b="1" i="0" dirty="0">
                <a:solidFill>
                  <a:srgbClr val="006FFC"/>
                </a:solidFill>
                <a:effectLst/>
                <a:latin typeface="Sora"/>
              </a:rPr>
              <a:t>Entrepreneurs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9F6B0A-1916-A412-E2B9-E8ABE51500B5}"/>
              </a:ext>
            </a:extLst>
          </p:cNvPr>
          <p:cNvSpPr txBox="1"/>
          <p:nvPr/>
        </p:nvSpPr>
        <p:spPr>
          <a:xfrm>
            <a:off x="3391930" y="2940910"/>
            <a:ext cx="44638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616B7C"/>
                </a:solidFill>
                <a:effectLst/>
                <a:latin typeface="Be Vietnam Pro"/>
              </a:rPr>
              <a:t>Individuals launching their first ventures who need professional process guidance.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F0AACB-7355-FB92-D1F5-FC5A2C2D8129}"/>
              </a:ext>
            </a:extLst>
          </p:cNvPr>
          <p:cNvSpPr txBox="1"/>
          <p:nvPr/>
        </p:nvSpPr>
        <p:spPr>
          <a:xfrm>
            <a:off x="2156770" y="4503728"/>
            <a:ext cx="2313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6FFC"/>
                </a:solidFill>
                <a:effectLst/>
                <a:latin typeface="Sora"/>
              </a:rPr>
              <a:t>Startups</a:t>
            </a:r>
            <a:r>
              <a:rPr lang="en-US" b="1" i="0" dirty="0">
                <a:solidFill>
                  <a:srgbClr val="616B7C"/>
                </a:solidFill>
                <a:effectLst/>
                <a:latin typeface="Sora"/>
              </a:rPr>
              <a:t> &amp; SMEs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E5C696-FCDE-5E2F-C29E-0BBF4D38549E}"/>
              </a:ext>
            </a:extLst>
          </p:cNvPr>
          <p:cNvSpPr txBox="1"/>
          <p:nvPr/>
        </p:nvSpPr>
        <p:spPr>
          <a:xfrm>
            <a:off x="907193" y="4873060"/>
            <a:ext cx="44638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616B7C"/>
                </a:solidFill>
                <a:effectLst/>
                <a:latin typeface="Be Vietnam Pro"/>
              </a:rPr>
              <a:t>New and growing companies requiring foundational legal and tax compliance structures.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60259C-71B8-320D-5D6F-8A52462BD4D2}"/>
              </a:ext>
            </a:extLst>
          </p:cNvPr>
          <p:cNvSpPr txBox="1"/>
          <p:nvPr/>
        </p:nvSpPr>
        <p:spPr>
          <a:xfrm>
            <a:off x="7143749" y="4503728"/>
            <a:ext cx="1424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6FFC"/>
                </a:solidFill>
                <a:effectLst/>
                <a:latin typeface="Sora"/>
              </a:rPr>
              <a:t>Freelancers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F8FA86-B150-31FB-A2D9-89A82D44AB7F}"/>
              </a:ext>
            </a:extLst>
          </p:cNvPr>
          <p:cNvSpPr txBox="1"/>
          <p:nvPr/>
        </p:nvSpPr>
        <p:spPr>
          <a:xfrm>
            <a:off x="5962133" y="4873059"/>
            <a:ext cx="3907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616B7C"/>
                </a:solidFill>
                <a:effectLst/>
                <a:latin typeface="Be Vietnam Pro"/>
              </a:rPr>
              <a:t>Independent professionals managing their own tax filings and business registrations.</a:t>
            </a:r>
            <a:endParaRPr 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345491-B14E-DCF4-010A-0731B4EA7127}"/>
              </a:ext>
            </a:extLst>
          </p:cNvPr>
          <p:cNvSpPr/>
          <p:nvPr/>
        </p:nvSpPr>
        <p:spPr>
          <a:xfrm>
            <a:off x="4689901" y="777989"/>
            <a:ext cx="2544463" cy="45719"/>
          </a:xfrm>
          <a:prstGeom prst="rect">
            <a:avLst/>
          </a:prstGeom>
          <a:gradFill flip="none" rotWithShape="1">
            <a:gsLst>
              <a:gs pos="64000">
                <a:srgbClr val="4FC9FA"/>
              </a:gs>
              <a:gs pos="95000">
                <a:srgbClr val="00FCFF"/>
              </a:gs>
              <a:gs pos="0">
                <a:srgbClr val="0609DA"/>
              </a:gs>
              <a:gs pos="34000">
                <a:srgbClr val="0609DA">
                  <a:lumMod val="50000"/>
                  <a:lumOff val="5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5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5" grpId="0"/>
      <p:bldP spid="19" grpId="0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rminator 10">
            <a:extLst>
              <a:ext uri="{FF2B5EF4-FFF2-40B4-BE49-F238E27FC236}">
                <a16:creationId xmlns:a16="http://schemas.microsoft.com/office/drawing/2014/main" id="{3FF2BBD7-C4B0-6858-137C-0257B062D7F8}"/>
              </a:ext>
            </a:extLst>
          </p:cNvPr>
          <p:cNvSpPr/>
          <p:nvPr/>
        </p:nvSpPr>
        <p:spPr>
          <a:xfrm>
            <a:off x="6803141" y="613714"/>
            <a:ext cx="1673594" cy="369332"/>
          </a:xfrm>
          <a:prstGeom prst="flowChartTerminator">
            <a:avLst/>
          </a:prstGeom>
          <a:solidFill>
            <a:schemeClr val="bg1">
              <a:lumMod val="85000"/>
              <a:alpha val="6150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D5551-3DD7-B1ED-4192-6F1104A160E2}"/>
              </a:ext>
            </a:extLst>
          </p:cNvPr>
          <p:cNvSpPr txBox="1"/>
          <p:nvPr/>
        </p:nvSpPr>
        <p:spPr>
          <a:xfrm>
            <a:off x="6815498" y="613714"/>
            <a:ext cx="1794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22FF"/>
                </a:solidFill>
                <a:effectLst/>
                <a:latin typeface="Be Vietnam Pro"/>
              </a:rPr>
              <a:t>Business Model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26D93-244A-8FDA-5E69-73FAD1A63ABA}"/>
              </a:ext>
            </a:extLst>
          </p:cNvPr>
          <p:cNvSpPr txBox="1"/>
          <p:nvPr/>
        </p:nvSpPr>
        <p:spPr>
          <a:xfrm>
            <a:off x="6803141" y="1093053"/>
            <a:ext cx="5108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4142D"/>
                </a:solidFill>
                <a:effectLst/>
                <a:latin typeface="Sora"/>
              </a:rPr>
              <a:t>The Business Framework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7F8A8F-5A58-BC3E-A0D5-DEBDFFC9930E}"/>
              </a:ext>
            </a:extLst>
          </p:cNvPr>
          <p:cNvSpPr txBox="1"/>
          <p:nvPr/>
        </p:nvSpPr>
        <p:spPr>
          <a:xfrm>
            <a:off x="6803141" y="1849391"/>
            <a:ext cx="53484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616B7C"/>
                </a:solidFill>
                <a:effectLst/>
                <a:latin typeface="Be Vietnam Pro"/>
              </a:rPr>
              <a:t>Leveraging expertise to deliver high-value professional services through a sustainable model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80F2BF-9530-7BB5-81EE-F65202F17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41" y="617456"/>
            <a:ext cx="5892180" cy="5623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3A9499B-FC01-2C7F-DF8D-66D9B62E3B43}"/>
              </a:ext>
            </a:extLst>
          </p:cNvPr>
          <p:cNvSpPr/>
          <p:nvPr/>
        </p:nvSpPr>
        <p:spPr>
          <a:xfrm>
            <a:off x="6932885" y="1693665"/>
            <a:ext cx="2544463" cy="45719"/>
          </a:xfrm>
          <a:prstGeom prst="rect">
            <a:avLst/>
          </a:prstGeom>
          <a:gradFill flip="none" rotWithShape="1">
            <a:gsLst>
              <a:gs pos="64000">
                <a:srgbClr val="4FC9FA"/>
              </a:gs>
              <a:gs pos="95000">
                <a:srgbClr val="00FCFF"/>
              </a:gs>
              <a:gs pos="0">
                <a:srgbClr val="0609DA"/>
              </a:gs>
              <a:gs pos="34000">
                <a:srgbClr val="0609DA">
                  <a:lumMod val="50000"/>
                  <a:lumOff val="5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44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rminator 21">
            <a:extLst>
              <a:ext uri="{FF2B5EF4-FFF2-40B4-BE49-F238E27FC236}">
                <a16:creationId xmlns:a16="http://schemas.microsoft.com/office/drawing/2014/main" id="{7C8A2522-3404-86CE-834A-121ECB7AB954}"/>
              </a:ext>
            </a:extLst>
          </p:cNvPr>
          <p:cNvSpPr/>
          <p:nvPr/>
        </p:nvSpPr>
        <p:spPr>
          <a:xfrm>
            <a:off x="256403" y="415485"/>
            <a:ext cx="1028700" cy="356127"/>
          </a:xfrm>
          <a:prstGeom prst="flowChartTerminator">
            <a:avLst/>
          </a:prstGeom>
          <a:solidFill>
            <a:schemeClr val="bg1">
              <a:lumMod val="85000"/>
              <a:alpha val="6150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88C05-7B1F-FCF4-82FA-EE9EF7804BEA}"/>
              </a:ext>
            </a:extLst>
          </p:cNvPr>
          <p:cNvSpPr txBox="1"/>
          <p:nvPr/>
        </p:nvSpPr>
        <p:spPr>
          <a:xfrm>
            <a:off x="256403" y="919893"/>
            <a:ext cx="43897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4142D"/>
                </a:solidFill>
                <a:effectLst/>
                <a:latin typeface="Sora"/>
              </a:rPr>
              <a:t>Core Strategic Strengths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277311-CFF4-D125-A8B0-5622450DBFAE}"/>
              </a:ext>
            </a:extLst>
          </p:cNvPr>
          <p:cNvSpPr txBox="1"/>
          <p:nvPr/>
        </p:nvSpPr>
        <p:spPr>
          <a:xfrm>
            <a:off x="301196" y="389235"/>
            <a:ext cx="1028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22FF"/>
                </a:solidFill>
                <a:effectLst/>
                <a:latin typeface="Be Vietnam Pro"/>
              </a:rPr>
              <a:t>Analysis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ED7D31-0FE8-4F79-6C80-3348BD7891C5}"/>
              </a:ext>
            </a:extLst>
          </p:cNvPr>
          <p:cNvSpPr txBox="1"/>
          <p:nvPr/>
        </p:nvSpPr>
        <p:spPr>
          <a:xfrm>
            <a:off x="256403" y="5809389"/>
            <a:ext cx="48592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616B7C"/>
                </a:solidFill>
                <a:effectLst/>
                <a:latin typeface="Be Vietnam Pro"/>
              </a:rPr>
              <a:t>Leveraging specialized expertise and ecosystem connectivity to drive client success</a:t>
            </a:r>
            <a:endParaRPr lang="en-US" sz="16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EF6E418-C534-AEFB-FE20-8A5E25551B63}"/>
              </a:ext>
            </a:extLst>
          </p:cNvPr>
          <p:cNvSpPr/>
          <p:nvPr/>
        </p:nvSpPr>
        <p:spPr>
          <a:xfrm>
            <a:off x="6096000" y="402280"/>
            <a:ext cx="2875006" cy="3083696"/>
          </a:xfrm>
          <a:prstGeom prst="roundRect">
            <a:avLst/>
          </a:prstGeom>
          <a:solidFill>
            <a:srgbClr val="0609DA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091E8D8-9167-6C70-515B-BCD402C82517}"/>
              </a:ext>
            </a:extLst>
          </p:cNvPr>
          <p:cNvSpPr/>
          <p:nvPr/>
        </p:nvSpPr>
        <p:spPr>
          <a:xfrm>
            <a:off x="9060591" y="402280"/>
            <a:ext cx="2875006" cy="3083696"/>
          </a:xfrm>
          <a:prstGeom prst="roundRect">
            <a:avLst/>
          </a:prstGeom>
          <a:solidFill>
            <a:srgbClr val="0090FF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1F8A505-10A9-CC46-CD58-CD86145D52FE}"/>
              </a:ext>
            </a:extLst>
          </p:cNvPr>
          <p:cNvSpPr/>
          <p:nvPr/>
        </p:nvSpPr>
        <p:spPr>
          <a:xfrm>
            <a:off x="6096000" y="3594443"/>
            <a:ext cx="2875006" cy="30836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0C3DC93-2AEC-8220-8D9A-B8DEAC362595}"/>
              </a:ext>
            </a:extLst>
          </p:cNvPr>
          <p:cNvSpPr/>
          <p:nvPr/>
        </p:nvSpPr>
        <p:spPr>
          <a:xfrm>
            <a:off x="9060591" y="3594442"/>
            <a:ext cx="2875006" cy="3083696"/>
          </a:xfrm>
          <a:prstGeom prst="roundRect">
            <a:avLst/>
          </a:prstGeom>
          <a:solidFill>
            <a:srgbClr val="00FCFF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6AE698-39AE-1BF5-546D-9F9E2DA947E4}"/>
              </a:ext>
            </a:extLst>
          </p:cNvPr>
          <p:cNvSpPr txBox="1"/>
          <p:nvPr/>
        </p:nvSpPr>
        <p:spPr>
          <a:xfrm>
            <a:off x="6268994" y="1944128"/>
            <a:ext cx="23189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Provides high-value </a:t>
            </a:r>
            <a:r>
              <a:rPr lang="en-US" b="1" i="0" dirty="0">
                <a:solidFill>
                  <a:srgbClr val="FFFFFF"/>
                </a:solidFill>
                <a:effectLst/>
                <a:latin typeface="Be Vietnam Pro"/>
              </a:rPr>
              <a:t>specialized consulting</a:t>
            </a:r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 for niche business needs.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CF2F5-260C-534B-A20C-2B33C0D98548}"/>
              </a:ext>
            </a:extLst>
          </p:cNvPr>
          <p:cNvSpPr txBox="1"/>
          <p:nvPr/>
        </p:nvSpPr>
        <p:spPr>
          <a:xfrm>
            <a:off x="9264477" y="1750770"/>
            <a:ext cx="24672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Strong support framework specifically designed for </a:t>
            </a:r>
            <a:r>
              <a:rPr lang="en-US" b="1" i="0" dirty="0">
                <a:solidFill>
                  <a:srgbClr val="FFFFFF"/>
                </a:solidFill>
                <a:effectLst/>
                <a:latin typeface="Be Vietnam Pro"/>
              </a:rPr>
              <a:t>startups</a:t>
            </a:r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 and entrepreneurs.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520CDC-909C-319E-C620-49D03ED5CE39}"/>
              </a:ext>
            </a:extLst>
          </p:cNvPr>
          <p:cNvSpPr txBox="1"/>
          <p:nvPr/>
        </p:nvSpPr>
        <p:spPr>
          <a:xfrm>
            <a:off x="6268994" y="5136290"/>
            <a:ext cx="26266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Ensures businesses maintain perfect </a:t>
            </a:r>
            <a:r>
              <a:rPr lang="en-US" b="1" i="0" dirty="0">
                <a:solidFill>
                  <a:srgbClr val="FFFFFF"/>
                </a:solidFill>
                <a:effectLst/>
                <a:latin typeface="Be Vietnam Pro"/>
              </a:rPr>
              <a:t>legal compliance</a:t>
            </a:r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 across all operations.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BD6A5D-FBC2-7968-B83A-574B75307B84}"/>
              </a:ext>
            </a:extLst>
          </p:cNvPr>
          <p:cNvSpPr txBox="1"/>
          <p:nvPr/>
        </p:nvSpPr>
        <p:spPr>
          <a:xfrm>
            <a:off x="9264477" y="5136289"/>
            <a:ext cx="26266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Integration with the </a:t>
            </a:r>
            <a:r>
              <a:rPr lang="en-US" b="1" i="0" dirty="0">
                <a:solidFill>
                  <a:srgbClr val="FFFFFF"/>
                </a:solidFill>
                <a:effectLst/>
                <a:latin typeface="Be Vietnam Pro"/>
              </a:rPr>
              <a:t>Eve ecosystem</a:t>
            </a:r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 provides broader strategic networking.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EE252F-6700-2B91-AAD9-0CBC08D74AC8}"/>
              </a:ext>
            </a:extLst>
          </p:cNvPr>
          <p:cNvSpPr/>
          <p:nvPr/>
        </p:nvSpPr>
        <p:spPr>
          <a:xfrm>
            <a:off x="301196" y="1620275"/>
            <a:ext cx="2544463" cy="45719"/>
          </a:xfrm>
          <a:prstGeom prst="rect">
            <a:avLst/>
          </a:prstGeom>
          <a:gradFill flip="none" rotWithShape="1">
            <a:gsLst>
              <a:gs pos="64000">
                <a:srgbClr val="4FC9FA"/>
              </a:gs>
              <a:gs pos="95000">
                <a:srgbClr val="00FCFF"/>
              </a:gs>
              <a:gs pos="0">
                <a:srgbClr val="0609DA"/>
              </a:gs>
              <a:gs pos="34000">
                <a:srgbClr val="0609DA">
                  <a:lumMod val="50000"/>
                  <a:lumOff val="5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 animBg="1"/>
      <p:bldP spid="11" grpId="0" animBg="1"/>
      <p:bldP spid="12" grpId="0" animBg="1"/>
      <p:bldP spid="13" grpId="0" animBg="1"/>
      <p:bldP spid="15" grpId="0"/>
      <p:bldP spid="17" grpId="0"/>
      <p:bldP spid="19" grpId="0"/>
      <p:bldP spid="21" grpId="0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rminator 14">
            <a:extLst>
              <a:ext uri="{FF2B5EF4-FFF2-40B4-BE49-F238E27FC236}">
                <a16:creationId xmlns:a16="http://schemas.microsoft.com/office/drawing/2014/main" id="{CCDB41C8-EB32-F752-2A3B-19FA557AF893}"/>
              </a:ext>
            </a:extLst>
          </p:cNvPr>
          <p:cNvSpPr/>
          <p:nvPr/>
        </p:nvSpPr>
        <p:spPr>
          <a:xfrm>
            <a:off x="256403" y="415485"/>
            <a:ext cx="1028700" cy="356127"/>
          </a:xfrm>
          <a:prstGeom prst="flowChartTerminator">
            <a:avLst/>
          </a:prstGeom>
          <a:solidFill>
            <a:schemeClr val="bg1">
              <a:lumMod val="85000"/>
              <a:alpha val="6150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9875E-3CD0-2D44-E1B3-6B61C45D5F8B}"/>
              </a:ext>
            </a:extLst>
          </p:cNvPr>
          <p:cNvSpPr txBox="1"/>
          <p:nvPr/>
        </p:nvSpPr>
        <p:spPr>
          <a:xfrm>
            <a:off x="286870" y="82834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4142D"/>
                </a:solidFill>
                <a:effectLst/>
                <a:latin typeface="Sora"/>
              </a:rPr>
              <a:t>Navigating Industry Challenges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BDDE9-D279-C69A-C41D-7A5E9512610C}"/>
              </a:ext>
            </a:extLst>
          </p:cNvPr>
          <p:cNvSpPr txBox="1"/>
          <p:nvPr/>
        </p:nvSpPr>
        <p:spPr>
          <a:xfrm>
            <a:off x="286870" y="1622175"/>
            <a:ext cx="50740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Addressing market competition and maintaining high service standards in a dynamic landscape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CC9ECC-1E7E-DEA7-426E-9A88BA4FDC8F}"/>
              </a:ext>
            </a:extLst>
          </p:cNvPr>
          <p:cNvSpPr txBox="1"/>
          <p:nvPr/>
        </p:nvSpPr>
        <p:spPr>
          <a:xfrm>
            <a:off x="256403" y="402280"/>
            <a:ext cx="1028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22FF"/>
                </a:solidFill>
                <a:effectLst/>
                <a:latin typeface="Be Vietnam Pro"/>
              </a:rPr>
              <a:t>Analysis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797317-1D09-CD7D-C806-9D5E0BFBCB18}"/>
              </a:ext>
            </a:extLst>
          </p:cNvPr>
          <p:cNvSpPr/>
          <p:nvPr/>
        </p:nvSpPr>
        <p:spPr>
          <a:xfrm>
            <a:off x="286870" y="1494788"/>
            <a:ext cx="2544463" cy="45719"/>
          </a:xfrm>
          <a:prstGeom prst="rect">
            <a:avLst/>
          </a:prstGeom>
          <a:gradFill flip="none" rotWithShape="1">
            <a:gsLst>
              <a:gs pos="64000">
                <a:srgbClr val="4FC9FA"/>
              </a:gs>
              <a:gs pos="95000">
                <a:srgbClr val="00FCFF"/>
              </a:gs>
              <a:gs pos="0">
                <a:srgbClr val="0609DA"/>
              </a:gs>
              <a:gs pos="34000">
                <a:srgbClr val="0609DA">
                  <a:lumMod val="50000"/>
                  <a:lumOff val="5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467A3BF-B8D2-C2D8-8890-1E6BE759D6E9}"/>
              </a:ext>
            </a:extLst>
          </p:cNvPr>
          <p:cNvSpPr/>
          <p:nvPr/>
        </p:nvSpPr>
        <p:spPr>
          <a:xfrm>
            <a:off x="5839597" y="122904"/>
            <a:ext cx="6096000" cy="1541929"/>
          </a:xfrm>
          <a:prstGeom prst="roundRect">
            <a:avLst/>
          </a:prstGeom>
          <a:solidFill>
            <a:srgbClr val="0609D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ABEEEAB-B6EC-234B-FA52-45A52A2020C5}"/>
              </a:ext>
            </a:extLst>
          </p:cNvPr>
          <p:cNvSpPr/>
          <p:nvPr/>
        </p:nvSpPr>
        <p:spPr>
          <a:xfrm>
            <a:off x="5839597" y="1766825"/>
            <a:ext cx="6096000" cy="1541929"/>
          </a:xfrm>
          <a:prstGeom prst="roundRect">
            <a:avLst/>
          </a:prstGeom>
          <a:solidFill>
            <a:srgbClr val="0090FF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882654D-C252-93C3-6A37-FD8E439EEB57}"/>
              </a:ext>
            </a:extLst>
          </p:cNvPr>
          <p:cNvSpPr/>
          <p:nvPr/>
        </p:nvSpPr>
        <p:spPr>
          <a:xfrm>
            <a:off x="5839597" y="3410746"/>
            <a:ext cx="6096000" cy="1541929"/>
          </a:xfrm>
          <a:prstGeom prst="roundRect">
            <a:avLst/>
          </a:prstGeom>
          <a:solidFill>
            <a:srgbClr val="00FCFF">
              <a:alpha val="9301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3D4AA4B-8152-7CFE-B232-A3763ED11ED2}"/>
              </a:ext>
            </a:extLst>
          </p:cNvPr>
          <p:cNvSpPr/>
          <p:nvPr/>
        </p:nvSpPr>
        <p:spPr>
          <a:xfrm>
            <a:off x="5839597" y="5054667"/>
            <a:ext cx="6096000" cy="1541929"/>
          </a:xfrm>
          <a:prstGeom prst="roundRect">
            <a:avLst/>
          </a:prstGeom>
          <a:solidFill>
            <a:srgbClr val="119672">
              <a:alpha val="7096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D73A3A-FC5E-5571-B592-3004BC34F86A}"/>
              </a:ext>
            </a:extLst>
          </p:cNvPr>
          <p:cNvSpPr txBox="1"/>
          <p:nvPr/>
        </p:nvSpPr>
        <p:spPr>
          <a:xfrm>
            <a:off x="6090609" y="871316"/>
            <a:ext cx="5593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FFFFFF"/>
                </a:solidFill>
                <a:effectLst/>
                <a:latin typeface="Be Vietnam Pro"/>
              </a:rPr>
              <a:t>Intense </a:t>
            </a:r>
            <a:r>
              <a:rPr lang="en-US" b="1" i="0">
                <a:solidFill>
                  <a:srgbClr val="FFFFFF"/>
                </a:solidFill>
                <a:effectLst/>
                <a:latin typeface="Be Vietnam Pro"/>
              </a:rPr>
              <a:t>high competition</a:t>
            </a:r>
            <a:r>
              <a:rPr lang="en-US" b="0" i="0">
                <a:solidFill>
                  <a:srgbClr val="FFFFFF"/>
                </a:solidFill>
                <a:effectLst/>
                <a:latin typeface="Be Vietnam Pro"/>
              </a:rPr>
              <a:t> within the global and local consulting industry.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5FA32D-C14E-8EC7-D154-2E5E89075131}"/>
              </a:ext>
            </a:extLst>
          </p:cNvPr>
          <p:cNvSpPr txBox="1"/>
          <p:nvPr/>
        </p:nvSpPr>
        <p:spPr>
          <a:xfrm>
            <a:off x="6090609" y="2516110"/>
            <a:ext cx="5593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Consistent need for </a:t>
            </a:r>
            <a:r>
              <a:rPr lang="en-US" b="1" i="0" dirty="0">
                <a:solidFill>
                  <a:srgbClr val="FFFFFF"/>
                </a:solidFill>
                <a:effectLst/>
                <a:latin typeface="Be Vietnam Pro"/>
              </a:rPr>
              <a:t>acquiring new clients</a:t>
            </a:r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 to maintain revenue growth.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591E11-E774-301C-D942-9C8B3C7075AF}"/>
              </a:ext>
            </a:extLst>
          </p:cNvPr>
          <p:cNvSpPr txBox="1"/>
          <p:nvPr/>
        </p:nvSpPr>
        <p:spPr>
          <a:xfrm>
            <a:off x="6090609" y="4181710"/>
            <a:ext cx="5593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Limited </a:t>
            </a:r>
            <a:r>
              <a:rPr lang="en-US" b="1" i="0" dirty="0">
                <a:solidFill>
                  <a:srgbClr val="FFFFFF"/>
                </a:solidFill>
                <a:effectLst/>
                <a:latin typeface="Be Vietnam Pro"/>
              </a:rPr>
              <a:t>brand recognition</a:t>
            </a:r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 compared to established international firms.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F6C23E-5DFE-0295-E1D8-3E59246DC626}"/>
              </a:ext>
            </a:extLst>
          </p:cNvPr>
          <p:cNvSpPr txBox="1"/>
          <p:nvPr/>
        </p:nvSpPr>
        <p:spPr>
          <a:xfrm>
            <a:off x="6090609" y="57064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Service quality is heavily </a:t>
            </a:r>
            <a:r>
              <a:rPr lang="en-US" b="1" i="0" dirty="0">
                <a:solidFill>
                  <a:srgbClr val="FFFFFF"/>
                </a:solidFill>
                <a:effectLst/>
                <a:latin typeface="Be Vietnam Pro"/>
              </a:rPr>
              <a:t>dependent on consultant expertise</a:t>
            </a:r>
            <a:r>
              <a:rPr lang="en-US" b="0" i="0" dirty="0">
                <a:solidFill>
                  <a:srgbClr val="FFFFFF"/>
                </a:solidFill>
                <a:effectLst/>
                <a:latin typeface="Be Vietnam Pro"/>
              </a:rPr>
              <a:t> and availability.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52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  <p:bldP spid="16" grpId="0" animBg="1"/>
      <p:bldP spid="17" grpId="0" animBg="1"/>
      <p:bldP spid="18" grpId="0" animBg="1"/>
      <p:bldP spid="19" grpId="0" animBg="1"/>
      <p:bldP spid="20" grpId="0" animBg="1"/>
      <p:bldP spid="22" grpId="0"/>
      <p:bldP spid="24" grpId="0"/>
      <p:bldP spid="26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05DAAD-BB58-7A6B-A343-0FD9D2C07F9F}"/>
              </a:ext>
            </a:extLst>
          </p:cNvPr>
          <p:cNvSpPr txBox="1"/>
          <p:nvPr/>
        </p:nvSpPr>
        <p:spPr>
          <a:xfrm>
            <a:off x="3721474" y="971781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04142D"/>
                </a:solidFill>
                <a:effectLst/>
                <a:latin typeface="Sora"/>
              </a:rPr>
              <a:t>Future Strategic Roadmap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8B332-A5B2-5EBB-3DA7-953F2FFEFD4E}"/>
              </a:ext>
            </a:extLst>
          </p:cNvPr>
          <p:cNvSpPr txBox="1"/>
          <p:nvPr/>
        </p:nvSpPr>
        <p:spPr>
          <a:xfrm>
            <a:off x="3024241" y="1700418"/>
            <a:ext cx="74927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616B7C"/>
                </a:solidFill>
                <a:effectLst/>
                <a:latin typeface="Be Vietnam Pro"/>
              </a:rPr>
              <a:t>Evolving through digital transformation, startup partnerships, and data-driven consulting solutions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98C6ED-D9C2-C49B-46AA-A6A05ED45070}"/>
              </a:ext>
            </a:extLst>
          </p:cNvPr>
          <p:cNvSpPr txBox="1"/>
          <p:nvPr/>
        </p:nvSpPr>
        <p:spPr>
          <a:xfrm>
            <a:off x="837855" y="4588194"/>
            <a:ext cx="2686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616B7C"/>
                </a:solidFill>
                <a:effectLst/>
                <a:latin typeface="Sora"/>
              </a:rPr>
              <a:t>Digital </a:t>
            </a:r>
            <a:r>
              <a:rPr lang="en-US" b="1" i="0" dirty="0">
                <a:solidFill>
                  <a:srgbClr val="006FFC"/>
                </a:solidFill>
                <a:effectLst/>
                <a:latin typeface="Sora"/>
              </a:rPr>
              <a:t>Transformation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518E9-D3F0-FB8B-63BA-4CC117CC495D}"/>
              </a:ext>
            </a:extLst>
          </p:cNvPr>
          <p:cNvSpPr txBox="1"/>
          <p:nvPr/>
        </p:nvSpPr>
        <p:spPr>
          <a:xfrm>
            <a:off x="261313" y="5017982"/>
            <a:ext cx="38391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000000"/>
                </a:solidFill>
                <a:effectLst/>
                <a:latin typeface="Be Vietnam Pro"/>
              </a:rPr>
              <a:t>Increase digital marketing presence and integrate advanced digital tools for consulting services.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61F16E-F474-2CA1-64F7-D7E704DEEDAF}"/>
              </a:ext>
            </a:extLst>
          </p:cNvPr>
          <p:cNvSpPr txBox="1"/>
          <p:nvPr/>
        </p:nvSpPr>
        <p:spPr>
          <a:xfrm>
            <a:off x="4924985" y="4592494"/>
            <a:ext cx="2356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616B7C"/>
                </a:solidFill>
                <a:effectLst/>
                <a:latin typeface="Sora"/>
              </a:rPr>
              <a:t>Community </a:t>
            </a:r>
            <a:r>
              <a:rPr lang="en-US" b="1" i="0" dirty="0">
                <a:solidFill>
                  <a:srgbClr val="006FFC"/>
                </a:solidFill>
                <a:effectLst/>
                <a:latin typeface="Sora"/>
              </a:rPr>
              <a:t>Expansion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879D13-F7A2-9C99-D1E9-9FFE35BA001F}"/>
              </a:ext>
            </a:extLst>
          </p:cNvPr>
          <p:cNvSpPr txBox="1"/>
          <p:nvPr/>
        </p:nvSpPr>
        <p:spPr>
          <a:xfrm>
            <a:off x="4628590" y="5017981"/>
            <a:ext cx="29348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000000"/>
                </a:solidFill>
                <a:effectLst/>
                <a:latin typeface="Be Vietnam Pro"/>
              </a:rPr>
              <a:t>Build strategic partnerships with startup communities and incubators within the ecosystem.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D2AECB-8CAF-7B54-A2CB-9EC63DA8923D}"/>
              </a:ext>
            </a:extLst>
          </p:cNvPr>
          <p:cNvSpPr txBox="1"/>
          <p:nvPr/>
        </p:nvSpPr>
        <p:spPr>
          <a:xfrm>
            <a:off x="8561746" y="4688571"/>
            <a:ext cx="2652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616B7C"/>
                </a:solidFill>
                <a:effectLst/>
                <a:latin typeface="Sora"/>
              </a:rPr>
              <a:t>Data-Driven </a:t>
            </a:r>
            <a:r>
              <a:rPr lang="en-US" b="1" i="0" dirty="0">
                <a:solidFill>
                  <a:srgbClr val="006FFC"/>
                </a:solidFill>
                <a:effectLst/>
                <a:latin typeface="Sora"/>
              </a:rPr>
              <a:t>Advisory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007BD7-8836-7AC5-A65E-303DA24269FB}"/>
              </a:ext>
            </a:extLst>
          </p:cNvPr>
          <p:cNvSpPr txBox="1"/>
          <p:nvPr/>
        </p:nvSpPr>
        <p:spPr>
          <a:xfrm>
            <a:off x="8066553" y="5055222"/>
            <a:ext cx="35063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rgbClr val="000000"/>
                </a:solidFill>
                <a:effectLst/>
                <a:latin typeface="Be Vietnam Pro"/>
              </a:rPr>
              <a:t>Introduce analytics-based solutions to transition from intuition to structured, data-driven answers.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87BE532-5023-2784-EC2F-991990227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13" y="3421257"/>
            <a:ext cx="11669374" cy="116693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DF372B7-66CB-76E4-DA31-CBC755EE286B}"/>
              </a:ext>
            </a:extLst>
          </p:cNvPr>
          <p:cNvSpPr/>
          <p:nvPr/>
        </p:nvSpPr>
        <p:spPr>
          <a:xfrm>
            <a:off x="5498361" y="1561025"/>
            <a:ext cx="2544463" cy="45719"/>
          </a:xfrm>
          <a:prstGeom prst="rect">
            <a:avLst/>
          </a:prstGeom>
          <a:gradFill flip="none" rotWithShape="1">
            <a:gsLst>
              <a:gs pos="64000">
                <a:srgbClr val="4FC9FA"/>
              </a:gs>
              <a:gs pos="95000">
                <a:srgbClr val="00FCFF"/>
              </a:gs>
              <a:gs pos="0">
                <a:srgbClr val="0609DA"/>
              </a:gs>
              <a:gs pos="34000">
                <a:srgbClr val="0609DA">
                  <a:lumMod val="50000"/>
                  <a:lumOff val="5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7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448</Words>
  <Application>Microsoft Macintosh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Be Vietnam Pro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Yadav [MCA - 2025]</dc:creator>
  <cp:lastModifiedBy>Prince Yadav [MCA - 2025]</cp:lastModifiedBy>
  <cp:revision>3</cp:revision>
  <dcterms:created xsi:type="dcterms:W3CDTF">2026-03-07T19:46:09Z</dcterms:created>
  <dcterms:modified xsi:type="dcterms:W3CDTF">2026-03-09T13:43:30Z</dcterms:modified>
</cp:coreProperties>
</file>