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5D"/>
    <a:srgbClr val="CCD8BB"/>
    <a:srgbClr val="0101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6"/>
    <p:restoredTop sz="94684"/>
  </p:normalViewPr>
  <p:slideViewPr>
    <p:cSldViewPr snapToGrid="0">
      <p:cViewPr varScale="1">
        <p:scale>
          <a:sx n="149" d="100"/>
          <a:sy n="149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38C68-278A-F6FC-C4CA-5CA4B2415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9E2C5-5912-81C9-FEC0-0515241EF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96758-9CA0-7E8C-6843-C124493C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7ABDC-B88F-314A-BEC8-C3BBA7CF6FE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1DB7F-A32D-A52C-7015-FA04C15B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D902F-0A6D-2E7C-CEB2-CF39FFAB5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DFC5C-18D0-794D-BD4D-10B7D1156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15C0-3AB5-BE28-48BB-87B3AD78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81E30-ABAC-8F0B-9F9B-6277EBA87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F042B-B25A-DBAE-43FA-FA43AB14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7ABDC-B88F-314A-BEC8-C3BBA7CF6FE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ABAD-85FA-23E2-E0AB-E2047BB66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5905D-9E91-10D7-B66D-B26646FA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DFC5C-18D0-794D-BD4D-10B7D1156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2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C468-5E2F-419F-20D7-47C711CF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AE578-7F97-B517-9B79-99683267A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697E7-8092-3700-7937-0C8840BB8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7ABDC-B88F-314A-BEC8-C3BBA7CF6FE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70037-CA47-F0A5-C7E9-FC1152095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9848E-E129-BD20-A270-40223636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DFC5C-18D0-794D-BD4D-10B7D1156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2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C0548-F4E9-3404-5638-E9310B58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F57C3-307B-4767-C4EB-C15CF4A8A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99C92-0A47-F120-B0A4-358987780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873FF-F0CE-CAD3-164B-E564D3E7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7ABDC-B88F-314A-BEC8-C3BBA7CF6FE8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9B3A0-1DA8-3DE8-F6D4-E17F7739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D77CA-F78E-1D2B-03BD-2358F823A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DFC5C-18D0-794D-BD4D-10B7D1156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0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6634C-E7B7-7A89-B65C-26BB46329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F0697-3C6E-74BE-D002-856C728A4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47361-436E-BD5B-7265-105212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DAAA4E-0954-7A43-4662-382628324E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9C1EB5-2B24-B518-3E95-920D2E99D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0D04A-7952-BFD8-C1DF-8B1DBEA07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7ABDC-B88F-314A-BEC8-C3BBA7CF6FE8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60AE1-C96E-2ADC-C120-8A7E0C21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D4F09-B8DE-1BD7-0BF3-F226F320B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DFC5C-18D0-794D-BD4D-10B7D1156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8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3B43-0572-599A-C8AB-813BE7C9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B4682-05AA-5C54-86E4-EB28558C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7ABDC-B88F-314A-BEC8-C3BBA7CF6FE8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319D4-C677-D8EA-47EB-C090B49C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BB4C5-FD42-15E6-20DE-A23B5EBA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DFC5C-18D0-794D-BD4D-10B7D1156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10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B5FD0E-6495-FE3E-830B-F31D423B1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7ABDC-B88F-314A-BEC8-C3BBA7CF6FE8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2B03D-A4BF-FA51-FDE7-1B37BFC08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721D6-0450-708B-DFB6-3EEA94D2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DFC5C-18D0-794D-BD4D-10B7D1156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3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E2A3-4C8A-B24A-A672-38136334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30BC3-A724-CA29-BFE2-D15A1928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34375-56E6-EC1E-39FB-B57750ABE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CDDD4-D5D3-968C-E6FE-B5304683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7ABDC-B88F-314A-BEC8-C3BBA7CF6FE8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620A6-8B5E-CEC1-8DC5-7B401E2A3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4ACEE-A11E-1B77-C025-BFD523AD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DFC5C-18D0-794D-BD4D-10B7D1156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0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252B8-6C2B-8BC0-4B08-FD3F44DA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C8435-EFB6-8785-2FDA-AB09A0367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61ABF-9140-F04F-FAB8-DDC5A3DC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9AB85-FDC2-7767-B5B5-385BB0753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7ABDC-B88F-314A-BEC8-C3BBA7CF6FE8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2A9E6-A815-4476-1325-AD6874735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80A3A-7E61-B152-8311-0CAECAD30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DFC5C-18D0-794D-BD4D-10B7D1156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23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BADA-37AA-4388-FA79-85D4BA6D3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DBD0D-C77C-6EFF-3893-AE09BEE41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D3DA7-7C87-B272-E16A-B75CEA130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7ABDC-B88F-314A-BEC8-C3BBA7CF6FE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C1C8C-5632-3A6F-DBFA-CFF9C0F8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1B8F8-66ED-92EF-3218-0D43CC0B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DFC5C-18D0-794D-BD4D-10B7D1156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26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A67AA-194B-C0E0-6D85-063267DAB5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44DB0-7434-DDD0-94FE-2432762BE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19FC9-10A2-A047-E04C-BF36B887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7ABDC-B88F-314A-BEC8-C3BBA7CF6FE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BD0A9-B7FE-D52E-17B6-9D72616F5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B4853-5088-4C33-F064-7F0B3EAB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DFC5C-18D0-794D-BD4D-10B7D1156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1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D663D3-8D31-811A-1C00-33068A7CC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863E4-08A3-F558-71C1-980B9BD69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B5E0-4858-BEB4-B509-493C72E0CF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7ABDC-B88F-314A-BEC8-C3BBA7CF6FE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ADA1C-41C7-8E66-FC24-F4AFD8754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59FFF-CB78-D2B6-D2DF-FEA014E49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DFC5C-18D0-794D-BD4D-10B7D1156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0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041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2" name="Picture 8" descr="San Valentín 2020: 10 consejos para enamorar a los empleados con el email  marketing – PR Noticias">
            <a:extLst>
              <a:ext uri="{FF2B5EF4-FFF2-40B4-BE49-F238E27FC236}">
                <a16:creationId xmlns:a16="http://schemas.microsoft.com/office/drawing/2014/main" id="{5DCAE830-3D26-7F01-7A5E-51DB90920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r="27019"/>
          <a:stretch>
            <a:fillRect/>
          </a:stretch>
        </p:blipFill>
        <p:spPr bwMode="auto">
          <a:xfrm>
            <a:off x="4283902" y="10"/>
            <a:ext cx="7908098" cy="685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Rectangle 1043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7B2AC-0944-DC2E-6A6F-7F411282B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4" y="1115219"/>
            <a:ext cx="4932398" cy="2387600"/>
          </a:xfrm>
        </p:spPr>
        <p:txBody>
          <a:bodyPr>
            <a:normAutofit/>
          </a:bodyPr>
          <a:lstStyle/>
          <a:p>
            <a:pPr algn="l"/>
            <a:r>
              <a:rPr lang="en-US" sz="5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EvePaper</a:t>
            </a:r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Campus-to-Career Bridge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3A8C9-6932-DCDE-6028-9E1A7ED9B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/>
          </a:bodyPr>
          <a:lstStyle/>
          <a:p>
            <a:pPr algn="l"/>
            <a:r>
              <a:rPr lang="en-US" sz="1700" dirty="0" err="1">
                <a:solidFill>
                  <a:schemeClr val="bg1"/>
                </a:solidFill>
                <a:latin typeface="Beirut" pitchFamily="2" charset="-78"/>
                <a:cs typeface="Beirut" pitchFamily="2" charset="-78"/>
              </a:rPr>
              <a:t>EvePaper</a:t>
            </a:r>
            <a:r>
              <a:rPr lang="en-US" sz="1700" dirty="0">
                <a:solidFill>
                  <a:schemeClr val="bg1"/>
                </a:solidFill>
                <a:latin typeface="Beirut" pitchFamily="2" charset="-78"/>
                <a:cs typeface="Beirut" pitchFamily="2" charset="-78"/>
              </a:rPr>
              <a:t> creates an integrated digital ecosystem that connects students with internships, mentors, employers, and career resources—aligning academic learning with professional opportunities and personalized career pathways to improve placement outcomes and long-term success.</a:t>
            </a:r>
          </a:p>
        </p:txBody>
      </p:sp>
      <p:cxnSp>
        <p:nvCxnSpPr>
          <p:cNvPr id="1046" name="Straight Connector 1045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0E02324-D428-4F49-4F5C-9D5D1F2837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1" t="3462" r="3860" b="7557"/>
          <a:stretch>
            <a:fillRect/>
          </a:stretch>
        </p:blipFill>
        <p:spPr>
          <a:xfrm>
            <a:off x="10928066" y="374944"/>
            <a:ext cx="835567" cy="8088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8255E9-5F32-8CCC-5776-B77E2484D5B4}"/>
              </a:ext>
            </a:extLst>
          </p:cNvPr>
          <p:cNvSpPr txBox="1"/>
          <p:nvPr/>
        </p:nvSpPr>
        <p:spPr>
          <a:xfrm>
            <a:off x="708949" y="5838585"/>
            <a:ext cx="48190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chemeClr val="bg1"/>
                </a:solidFill>
                <a:effectLst/>
                <a:latin typeface="Plus Jakarta Sans"/>
              </a:rPr>
              <a:t>Prince Yadav | Business Analytics Intern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6531A-0953-EE47-2A5C-CA5622C2FBB0}"/>
              </a:ext>
            </a:extLst>
          </p:cNvPr>
          <p:cNvSpPr txBox="1"/>
          <p:nvPr/>
        </p:nvSpPr>
        <p:spPr>
          <a:xfrm>
            <a:off x="708949" y="61790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8A8D93"/>
                </a:solidFill>
                <a:effectLst/>
                <a:latin typeface="Plus Jakarta Sans"/>
              </a:rPr>
              <a:t>Presenter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2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6CEF7-D569-3003-149D-DFE01D4EA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4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E788E7-A6F5-DBC4-0EEF-174B8C7EA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30038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1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Empowering the Next Generation</a:t>
            </a:r>
            <a:br>
              <a:rPr lang="en-US" sz="31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New Delhi-based startup redefining student career pathways through skill development and networking.</a:t>
            </a:r>
            <a:b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58DA8-708D-8A01-B752-291E859FA1DE}"/>
              </a:ext>
            </a:extLst>
          </p:cNvPr>
          <p:cNvSpPr txBox="1"/>
          <p:nvPr/>
        </p:nvSpPr>
        <p:spPr>
          <a:xfrm>
            <a:off x="643467" y="5277684"/>
            <a:ext cx="4620584" cy="775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400" kern="12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About Us</a:t>
            </a:r>
            <a:endParaRPr lang="en-US" sz="2400" kern="1200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85103E2-9E60-FFF8-9EA6-C34F4D98E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074179"/>
              </p:ext>
            </p:extLst>
          </p:nvPr>
        </p:nvGraphicFramePr>
        <p:xfrm>
          <a:off x="6606253" y="1267117"/>
          <a:ext cx="4942280" cy="4323768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effectLst>
                  <a:outerShdw blurRad="50800" dist="50800" dir="5400000" algn="ctr" rotWithShape="0">
                    <a:srgbClr val="000000"/>
                  </a:outerShdw>
                  <a:reflection endPos="0" dist="50800" dir="5400000" sy="-100000" algn="bl" rotWithShape="0"/>
                </a:effectLst>
                <a:tableStyleId>{5C22544A-7EE6-4342-B048-85BDC9FD1C3A}</a:tableStyleId>
              </a:tblPr>
              <a:tblGrid>
                <a:gridCol w="4942280">
                  <a:extLst>
                    <a:ext uri="{9D8B030D-6E8A-4147-A177-3AD203B41FA5}">
                      <a16:colId xmlns:a16="http://schemas.microsoft.com/office/drawing/2014/main" val="860601710"/>
                    </a:ext>
                  </a:extLst>
                </a:gridCol>
              </a:tblGrid>
              <a:tr h="1080942"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cap="none" spc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Founded in 2021 by Yash Prasad with headquarters in New Delhi, India.</a:t>
                      </a:r>
                      <a:endParaRPr lang="en-US" sz="2200" b="0" i="0" cap="none" spc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968" marR="190744" marT="146736" marB="190744" anchor="ctr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608685"/>
                  </a:ext>
                </a:extLst>
              </a:tr>
              <a:tr h="983118">
                <a:tc>
                  <a:txBody>
                    <a:bodyPr/>
                    <a:lstStyle/>
                    <a:p>
                      <a:pPr algn="ctr"/>
                      <a:r>
                        <a:rPr lang="en-US" sz="1900" b="0" i="0" kern="1200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Operates as a digital platform connecting students, colleges, and corporate partners.</a:t>
                      </a:r>
                      <a:endParaRPr lang="en-US" sz="1900" b="0" i="0" cap="none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968" marR="190744" marT="146736" marB="1907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852563"/>
                  </a:ext>
                </a:extLst>
              </a:tr>
              <a:tr h="983118">
                <a:tc>
                  <a:txBody>
                    <a:bodyPr/>
                    <a:lstStyle/>
                    <a:p>
                      <a:pPr algn="ctr"/>
                      <a:r>
                        <a:rPr lang="en-US" sz="1900" b="0" i="0" kern="120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Focuses on providing access to internships, events, and career resources for fresh talent.</a:t>
                      </a:r>
                      <a:endParaRPr lang="en-US" sz="1900" b="0" i="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968" marR="190744" marT="146736" marB="1907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383576"/>
                  </a:ext>
                </a:extLst>
              </a:tr>
              <a:tr h="1276590">
                <a:tc>
                  <a:txBody>
                    <a:bodyPr/>
                    <a:lstStyle/>
                    <a:p>
                      <a:pPr algn="ctr"/>
                      <a:r>
                        <a:rPr lang="en-US" sz="1900" b="0" i="0" kern="1200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Prioritizes career growth and skill development to prepare students for the modern workforce.</a:t>
                      </a:r>
                      <a:endParaRPr lang="en-US" sz="1900" b="0" i="0" cap="none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968" marR="190744" marT="146736" marB="1907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693616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B02C2349-EB35-95A4-929A-51B476920F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1" t="3462" r="3860" b="7557"/>
          <a:stretch>
            <a:fillRect/>
          </a:stretch>
        </p:blipFill>
        <p:spPr>
          <a:xfrm>
            <a:off x="251828" y="177639"/>
            <a:ext cx="481210" cy="4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F8102-FB48-EDFC-D631-2760C314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b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1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b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Driving Professional Development</a:t>
            </a:r>
            <a:b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37789-B9A0-EA8E-61F9-F60D72384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Our strategy centers on building a strong ecosystem that facilitates knowledge, skills, and long-term career success.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C47E27-9685-552B-1E91-AC11194438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1" t="3462" r="3860" b="7557"/>
          <a:stretch>
            <a:fillRect/>
          </a:stretch>
        </p:blipFill>
        <p:spPr>
          <a:xfrm>
            <a:off x="251828" y="177639"/>
            <a:ext cx="481210" cy="4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505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F0F18-C173-C3E7-E895-F84B7C506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70" y="541230"/>
            <a:ext cx="9713360" cy="905041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Service Portfolio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C3A2F-39E4-B53C-32E3-E493DD743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70" y="2555485"/>
            <a:ext cx="2626216" cy="346591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sz="1600" b="1" dirty="0"/>
              <a:t>Internship Opportunities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51A3B-BCCB-71F1-E844-2B7317CBD300}"/>
              </a:ext>
            </a:extLst>
          </p:cNvPr>
          <p:cNvSpPr txBox="1"/>
          <p:nvPr/>
        </p:nvSpPr>
        <p:spPr>
          <a:xfrm>
            <a:off x="1767023" y="1488121"/>
            <a:ext cx="85653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555B66"/>
                </a:solidFill>
                <a:effectLst/>
                <a:latin typeface="Plus Jakarta Sans"/>
              </a:rPr>
              <a:t>A one-stop platform offering diverse learning and employment services tailored for students and fresh graduates.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BFD894-4E56-D92A-86CE-3A0DC3EC8387}"/>
              </a:ext>
            </a:extLst>
          </p:cNvPr>
          <p:cNvSpPr txBox="1"/>
          <p:nvPr/>
        </p:nvSpPr>
        <p:spPr>
          <a:xfrm>
            <a:off x="181996" y="3016250"/>
            <a:ext cx="36471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i="0" dirty="0">
                <a:effectLst/>
                <a:latin typeface="Plus Jakarta Sans"/>
              </a:rPr>
              <a:t>Providing students and fresh graduates with hands-on professional experience across various sectors.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069B1C-11D0-959D-3576-11A9A8A8696E}"/>
              </a:ext>
            </a:extLst>
          </p:cNvPr>
          <p:cNvSpPr txBox="1"/>
          <p:nvPr/>
        </p:nvSpPr>
        <p:spPr>
          <a:xfrm>
            <a:off x="1767023" y="5018015"/>
            <a:ext cx="2062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1" i="0" dirty="0">
                <a:solidFill>
                  <a:srgbClr val="0D131D"/>
                </a:solidFill>
                <a:effectLst/>
                <a:latin typeface="Plus Jakarta Sans"/>
              </a:rPr>
              <a:t>Expert Webinars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978F9C-EC23-51E4-D652-77E8A3BEE7C0}"/>
              </a:ext>
            </a:extLst>
          </p:cNvPr>
          <p:cNvSpPr txBox="1"/>
          <p:nvPr/>
        </p:nvSpPr>
        <p:spPr>
          <a:xfrm>
            <a:off x="181996" y="5525034"/>
            <a:ext cx="36471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0" i="0" dirty="0">
                <a:effectLst/>
                <a:latin typeface="Plus Jakarta Sans"/>
              </a:rPr>
              <a:t>Conducting workshops and webinars led by industry experts to provide professional insights and networking.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5BD796-5B2B-691D-5A9E-FF045CEB5E3E}"/>
              </a:ext>
            </a:extLst>
          </p:cNvPr>
          <p:cNvSpPr txBox="1"/>
          <p:nvPr/>
        </p:nvSpPr>
        <p:spPr>
          <a:xfrm>
            <a:off x="7274203" y="2555485"/>
            <a:ext cx="18903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0D131D"/>
                </a:solidFill>
                <a:effectLst/>
                <a:latin typeface="Plus Jakarta Sans"/>
              </a:rPr>
              <a:t>Online Courses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FB5C5B-33BA-39A0-121E-764E8B18FA68}"/>
              </a:ext>
            </a:extLst>
          </p:cNvPr>
          <p:cNvSpPr txBox="1"/>
          <p:nvPr/>
        </p:nvSpPr>
        <p:spPr>
          <a:xfrm>
            <a:off x="7274203" y="3022172"/>
            <a:ext cx="46470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Plus Jakarta Sans"/>
              </a:rPr>
              <a:t>Facilitating continuous skill development through targeted and industry-relevant online learning modules.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AC0AF4-C3C2-F42F-DCBD-20ACE993A038}"/>
              </a:ext>
            </a:extLst>
          </p:cNvPr>
          <p:cNvSpPr txBox="1"/>
          <p:nvPr/>
        </p:nvSpPr>
        <p:spPr>
          <a:xfrm>
            <a:off x="7274203" y="5018015"/>
            <a:ext cx="24562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0D131D"/>
                </a:solidFill>
                <a:effectLst/>
                <a:latin typeface="Plus Jakarta Sans"/>
              </a:rPr>
              <a:t>Competitions &amp; Events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FE3465-5A6B-5727-A3AA-658FC3E0110E}"/>
              </a:ext>
            </a:extLst>
          </p:cNvPr>
          <p:cNvSpPr txBox="1"/>
          <p:nvPr/>
        </p:nvSpPr>
        <p:spPr>
          <a:xfrm>
            <a:off x="7274203" y="5525034"/>
            <a:ext cx="4432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Plus Jakarta Sans"/>
              </a:rPr>
              <a:t>Encouraging student participation through competitive events that showcase talent to potential employers.</a:t>
            </a:r>
            <a:endParaRPr lang="en-US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D6E5FD9-D23B-8AB6-D17B-9E44A4C67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757" y="2013853"/>
            <a:ext cx="3172415" cy="46698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0A32075-C22D-D8D4-8215-178BB2515B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1" t="3462" r="3860" b="7557"/>
          <a:stretch>
            <a:fillRect/>
          </a:stretch>
        </p:blipFill>
        <p:spPr>
          <a:xfrm>
            <a:off x="251828" y="177639"/>
            <a:ext cx="481210" cy="4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27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CC1E469-EA52-F694-FC59-87485E517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046" y="1663736"/>
            <a:ext cx="4660900" cy="431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766E9A-9F17-072A-EE8E-CF98FA30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39" y="252109"/>
            <a:ext cx="4072847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Triple-Sided Marketplace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4EC1F-E79F-1C6C-E06C-6CBF731F0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039" y="1692061"/>
            <a:ext cx="5028344" cy="557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Synchronizing the needs of students, educational institutions, and corporate employers to create a thriving talent network.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C1E983-60B8-B7C7-3D0D-0B59E89549F2}"/>
              </a:ext>
            </a:extLst>
          </p:cNvPr>
          <p:cNvSpPr txBox="1"/>
          <p:nvPr/>
        </p:nvSpPr>
        <p:spPr>
          <a:xfrm>
            <a:off x="1614753" y="2664381"/>
            <a:ext cx="2488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i="0" dirty="0">
                <a:solidFill>
                  <a:srgbClr val="0D131D"/>
                </a:solidFill>
                <a:effectLst/>
                <a:latin typeface="Plus Jakarta Sans"/>
              </a:rPr>
              <a:t>Colleges &amp; Universities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60FE7-F877-CF1E-604B-45B8BF69C4C0}"/>
              </a:ext>
            </a:extLst>
          </p:cNvPr>
          <p:cNvSpPr txBox="1"/>
          <p:nvPr/>
        </p:nvSpPr>
        <p:spPr>
          <a:xfrm>
            <a:off x="207194" y="3074188"/>
            <a:ext cx="38964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0" i="0" dirty="0">
                <a:effectLst/>
                <a:latin typeface="Plus Jakarta Sans"/>
              </a:rPr>
              <a:t>Educational institutions aiming to provide their students with better corporate exposure and placement opportunities.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A6818C-97D9-5137-63F6-83472BBD77E8}"/>
              </a:ext>
            </a:extLst>
          </p:cNvPr>
          <p:cNvSpPr txBox="1"/>
          <p:nvPr/>
        </p:nvSpPr>
        <p:spPr>
          <a:xfrm>
            <a:off x="7975324" y="2011057"/>
            <a:ext cx="2643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D131D"/>
                </a:solidFill>
                <a:effectLst/>
                <a:latin typeface="Plus Jakarta Sans"/>
              </a:rPr>
              <a:t>Companies &amp; Startups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B2C24D-A57E-3133-CC93-65ABA05B65B0}"/>
              </a:ext>
            </a:extLst>
          </p:cNvPr>
          <p:cNvSpPr txBox="1"/>
          <p:nvPr/>
        </p:nvSpPr>
        <p:spPr>
          <a:xfrm>
            <a:off x="7975323" y="2432869"/>
            <a:ext cx="37012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Plus Jakarta Sans"/>
              </a:rPr>
              <a:t>Organizations searching young, motivated talent and interns to drive innovation and growth.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34E409-4D57-D70F-2805-CD7B68EDF4CA}"/>
              </a:ext>
            </a:extLst>
          </p:cNvPr>
          <p:cNvSpPr txBox="1"/>
          <p:nvPr/>
        </p:nvSpPr>
        <p:spPr>
          <a:xfrm>
            <a:off x="6813060" y="4475404"/>
            <a:ext cx="2324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D131D"/>
                </a:solidFill>
                <a:effectLst/>
                <a:latin typeface="Plus Jakarta Sans"/>
              </a:rPr>
              <a:t>Ambitious Students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16CE64-489A-8E3A-2FFE-A86BA916FA43}"/>
              </a:ext>
            </a:extLst>
          </p:cNvPr>
          <p:cNvSpPr txBox="1"/>
          <p:nvPr/>
        </p:nvSpPr>
        <p:spPr>
          <a:xfrm>
            <a:off x="6813060" y="4895799"/>
            <a:ext cx="34880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Plus Jakarta Sans"/>
              </a:rPr>
              <a:t>Individuals seeking internships, practical skills, and clear pathways to launch their professional careers.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5E35441-DC51-2023-5FD5-929379464C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1" t="3462" r="3860" b="7557"/>
          <a:stretch>
            <a:fillRect/>
          </a:stretch>
        </p:blipFill>
        <p:spPr>
          <a:xfrm>
            <a:off x="11435983" y="252109"/>
            <a:ext cx="481210" cy="4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21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  <p:bldP spid="9" grpId="0"/>
      <p:bldP spid="11" grpId="0"/>
      <p:bldP spid="13" grpId="0"/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B566D00-CD4F-A8F5-DCD8-8107C69BB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354" y="2723843"/>
            <a:ext cx="8768507" cy="23804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33971E-E5D9-FADC-7B88-DD3DD259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963" y="365125"/>
            <a:ext cx="7460673" cy="989879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Eve Universe 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F1918-09B0-9F4C-C195-5F217EF47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354" y="1355004"/>
            <a:ext cx="8735291" cy="3356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Supporting students through every stage of their professional lifecycle, from initial learning to recruitment.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60FFE-004D-1701-397E-30A6B2D39CBD}"/>
              </a:ext>
            </a:extLst>
          </p:cNvPr>
          <p:cNvSpPr txBox="1"/>
          <p:nvPr/>
        </p:nvSpPr>
        <p:spPr>
          <a:xfrm>
            <a:off x="3934690" y="1995574"/>
            <a:ext cx="110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solidFill>
                  <a:srgbClr val="0D131D"/>
                </a:solidFill>
                <a:effectLst/>
                <a:latin typeface="Plus Jakarta Sans"/>
              </a:rPr>
              <a:t>EvePaper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DD2F49-A918-B107-7EC0-9F7BCC991719}"/>
              </a:ext>
            </a:extLst>
          </p:cNvPr>
          <p:cNvSpPr txBox="1"/>
          <p:nvPr/>
        </p:nvSpPr>
        <p:spPr>
          <a:xfrm>
            <a:off x="2930236" y="2418957"/>
            <a:ext cx="34705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effectLst/>
                <a:latin typeface="Plus Jakarta Sans"/>
              </a:rPr>
              <a:t>The primary platform for discovering student opportunities and internships.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15F545-D7DE-2C00-B057-D4351BAD40C4}"/>
              </a:ext>
            </a:extLst>
          </p:cNvPr>
          <p:cNvSpPr txBox="1"/>
          <p:nvPr/>
        </p:nvSpPr>
        <p:spPr>
          <a:xfrm>
            <a:off x="8777876" y="2001839"/>
            <a:ext cx="1898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D131D"/>
                </a:solidFill>
                <a:effectLst/>
                <a:latin typeface="Plus Jakarta Sans"/>
              </a:rPr>
              <a:t>Eve Consultancy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864A45-BBA3-5FBF-2B73-A55F506B5446}"/>
              </a:ext>
            </a:extLst>
          </p:cNvPr>
          <p:cNvSpPr txBox="1"/>
          <p:nvPr/>
        </p:nvSpPr>
        <p:spPr>
          <a:xfrm>
            <a:off x="8176226" y="2398361"/>
            <a:ext cx="3101374" cy="54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Plus Jakarta Sans"/>
              </a:rPr>
              <a:t>Offering business consulting services to complement the professional network.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63B79-09FA-83B7-E322-4FE5B3901EE6}"/>
              </a:ext>
            </a:extLst>
          </p:cNvPr>
          <p:cNvSpPr txBox="1"/>
          <p:nvPr/>
        </p:nvSpPr>
        <p:spPr>
          <a:xfrm>
            <a:off x="1953491" y="5060414"/>
            <a:ext cx="144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D131D"/>
                </a:solidFill>
                <a:effectLst/>
                <a:latin typeface="Plus Jakarta Sans"/>
              </a:rPr>
              <a:t>Eve Learn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0D381F-082B-C248-2B95-F72EF34A8520}"/>
              </a:ext>
            </a:extLst>
          </p:cNvPr>
          <p:cNvSpPr txBox="1"/>
          <p:nvPr/>
        </p:nvSpPr>
        <p:spPr>
          <a:xfrm>
            <a:off x="921326" y="5409150"/>
            <a:ext cx="37892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effectLst/>
                <a:latin typeface="Plus Jakarta Sans"/>
              </a:rPr>
              <a:t>The foundation focusing on skill development and comprehensive online courses.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7E38F8-EBCC-63F5-94C6-98E50C0776E9}"/>
              </a:ext>
            </a:extLst>
          </p:cNvPr>
          <p:cNvSpPr txBox="1"/>
          <p:nvPr/>
        </p:nvSpPr>
        <p:spPr>
          <a:xfrm>
            <a:off x="7065816" y="5224484"/>
            <a:ext cx="2008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D131D"/>
                </a:solidFill>
                <a:effectLst/>
                <a:latin typeface="Plus Jakarta Sans"/>
              </a:rPr>
              <a:t>Eve Placement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EFA34D-E387-F8C1-7B63-CA150CE7B122}"/>
              </a:ext>
            </a:extLst>
          </p:cNvPr>
          <p:cNvSpPr txBox="1"/>
          <p:nvPr/>
        </p:nvSpPr>
        <p:spPr>
          <a:xfrm>
            <a:off x="5903060" y="5593816"/>
            <a:ext cx="38238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effectLst/>
                <a:latin typeface="Plus Jakarta Sans"/>
              </a:rPr>
              <a:t>Providing dedicated recruitment and hiring support for fresh graduates.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E5D5572-0B58-FFBA-E750-FE4DA4DC71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1" t="3462" r="3860" b="7557"/>
          <a:stretch>
            <a:fillRect/>
          </a:stretch>
        </p:blipFill>
        <p:spPr>
          <a:xfrm>
            <a:off x="251828" y="177639"/>
            <a:ext cx="481210" cy="4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65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ACF16-396E-9CF1-9D12-E0AC5418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45" y="240434"/>
            <a:ext cx="8181110" cy="1325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Streams &amp; Value Creation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C0FF0-7620-5158-AE98-D04DA3E85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45" y="1700933"/>
            <a:ext cx="10577946" cy="6543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Generating sustainable growth through a mix of business-to-business marketing and professional training services.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0D2F007-48FD-CB7C-9D2A-3D59C3B84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420244"/>
              </p:ext>
            </p:extLst>
          </p:nvPr>
        </p:nvGraphicFramePr>
        <p:xfrm>
          <a:off x="214745" y="2812473"/>
          <a:ext cx="11700164" cy="3805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041">
                  <a:extLst>
                    <a:ext uri="{9D8B030D-6E8A-4147-A177-3AD203B41FA5}">
                      <a16:colId xmlns:a16="http://schemas.microsoft.com/office/drawing/2014/main" val="709410399"/>
                    </a:ext>
                  </a:extLst>
                </a:gridCol>
                <a:gridCol w="2925041">
                  <a:extLst>
                    <a:ext uri="{9D8B030D-6E8A-4147-A177-3AD203B41FA5}">
                      <a16:colId xmlns:a16="http://schemas.microsoft.com/office/drawing/2014/main" val="3127087735"/>
                    </a:ext>
                  </a:extLst>
                </a:gridCol>
                <a:gridCol w="2925041">
                  <a:extLst>
                    <a:ext uri="{9D8B030D-6E8A-4147-A177-3AD203B41FA5}">
                      <a16:colId xmlns:a16="http://schemas.microsoft.com/office/drawing/2014/main" val="2704805577"/>
                    </a:ext>
                  </a:extLst>
                </a:gridCol>
                <a:gridCol w="2925041">
                  <a:extLst>
                    <a:ext uri="{9D8B030D-6E8A-4147-A177-3AD203B41FA5}">
                      <a16:colId xmlns:a16="http://schemas.microsoft.com/office/drawing/2014/main" val="697352773"/>
                    </a:ext>
                  </a:extLst>
                </a:gridCol>
              </a:tblGrid>
              <a:tr h="3805093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Brand</a:t>
                      </a:r>
                      <a:r>
                        <a:rPr lang="en-US" sz="1800" b="1" i="0" u="sng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Promotions</a:t>
                      </a:r>
                    </a:p>
                    <a:p>
                      <a:pPr algn="ctr"/>
                      <a:endParaRPr lang="en-US" sz="18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8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Generating revenue through companies that promote events and specific marketing campaigns to our large student audience.</a:t>
                      </a:r>
                      <a:endParaRPr lang="en-US" b="0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Recruitment Services</a:t>
                      </a:r>
                    </a:p>
                    <a:p>
                      <a:pPr algn="ctr"/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Fees associated with helping companies find and hire the right interns and fresh graduates for their teams.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Training Programs</a:t>
                      </a:r>
                    </a:p>
                    <a:p>
                      <a:pPr algn="ctr"/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Monetizing skill development programs and industry-focused online courses for individual student growth.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Partnerships</a:t>
                      </a:r>
                    </a:p>
                    <a:p>
                      <a:pPr algn="ctr"/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Collaborative revenue models with colleges and organizations to enhance their student opportunity portals.</a:t>
                      </a:r>
                      <a:endParaRPr lang="en-US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934849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7D9247-BDF9-843F-89BB-8B225C8D9CDD}"/>
              </a:ext>
            </a:extLst>
          </p:cNvPr>
          <p:cNvCxnSpPr/>
          <p:nvPr/>
        </p:nvCxnSpPr>
        <p:spPr>
          <a:xfrm>
            <a:off x="401782" y="3269673"/>
            <a:ext cx="2549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4978E5-6DF6-6578-307B-EAE289DD2782}"/>
              </a:ext>
            </a:extLst>
          </p:cNvPr>
          <p:cNvCxnSpPr/>
          <p:nvPr/>
        </p:nvCxnSpPr>
        <p:spPr>
          <a:xfrm>
            <a:off x="6234546" y="3283528"/>
            <a:ext cx="2549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80425B-01BE-B6AF-0F24-A7993F6641AA}"/>
              </a:ext>
            </a:extLst>
          </p:cNvPr>
          <p:cNvCxnSpPr/>
          <p:nvPr/>
        </p:nvCxnSpPr>
        <p:spPr>
          <a:xfrm>
            <a:off x="9157855" y="3283528"/>
            <a:ext cx="2549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448365-83EC-5E34-953C-C3B1E9EB4737}"/>
              </a:ext>
            </a:extLst>
          </p:cNvPr>
          <p:cNvCxnSpPr/>
          <p:nvPr/>
        </p:nvCxnSpPr>
        <p:spPr>
          <a:xfrm>
            <a:off x="3366654" y="3269673"/>
            <a:ext cx="2549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9674C3C-5BD7-9906-578F-FC40FD40A4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1" t="3462" r="3860" b="7557"/>
          <a:stretch>
            <a:fillRect/>
          </a:stretch>
        </p:blipFill>
        <p:spPr>
          <a:xfrm>
            <a:off x="11433699" y="240434"/>
            <a:ext cx="481210" cy="4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2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4B9B-0278-4C6C-8106-B69D1144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37" y="171161"/>
            <a:ext cx="4218708" cy="1325563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Reach and Impact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DCC04-27BA-3396-5946-060FA5BA4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038" y="1496724"/>
            <a:ext cx="5230090" cy="529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a massive nationwide presence to bridge the gap between education and industry across India.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3AAAF5-C7DE-3337-9568-910B26F2F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36" y="2126493"/>
            <a:ext cx="5396346" cy="4456337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367EFE6-C88E-0627-8E76-3CC0B2902AC5}"/>
              </a:ext>
            </a:extLst>
          </p:cNvPr>
          <p:cNvSpPr/>
          <p:nvPr/>
        </p:nvSpPr>
        <p:spPr>
          <a:xfrm>
            <a:off x="6234546" y="471055"/>
            <a:ext cx="2687782" cy="351905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27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1FE6B88-99BA-6BA8-A173-E33E8953D8F1}"/>
              </a:ext>
            </a:extLst>
          </p:cNvPr>
          <p:cNvSpPr/>
          <p:nvPr/>
        </p:nvSpPr>
        <p:spPr>
          <a:xfrm>
            <a:off x="9164782" y="471055"/>
            <a:ext cx="2687782" cy="3519054"/>
          </a:xfrm>
          <a:prstGeom prst="roundRect">
            <a:avLst/>
          </a:prstGeom>
          <a:solidFill>
            <a:schemeClr val="tx2">
              <a:lumMod val="25000"/>
              <a:lumOff val="75000"/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3A20E11-93D1-F831-297F-52D5C6E98914}"/>
              </a:ext>
            </a:extLst>
          </p:cNvPr>
          <p:cNvSpPr/>
          <p:nvPr/>
        </p:nvSpPr>
        <p:spPr>
          <a:xfrm>
            <a:off x="6234546" y="4154442"/>
            <a:ext cx="5618018" cy="242838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220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A24B98-4B87-566E-465A-D766A384960E}"/>
              </a:ext>
            </a:extLst>
          </p:cNvPr>
          <p:cNvSpPr txBox="1"/>
          <p:nvPr/>
        </p:nvSpPr>
        <p:spPr>
          <a:xfrm>
            <a:off x="6359237" y="833942"/>
            <a:ext cx="16902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D131D"/>
                </a:solidFill>
                <a:effectLst/>
                <a:latin typeface="Plus Jakarta Sans"/>
              </a:rPr>
              <a:t>10M+</a:t>
            </a:r>
            <a:endParaRPr lang="en-US" sz="3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569E51-2A0B-ADF5-0EAB-CCFEDF1F32E4}"/>
              </a:ext>
            </a:extLst>
          </p:cNvPr>
          <p:cNvSpPr txBox="1"/>
          <p:nvPr/>
        </p:nvSpPr>
        <p:spPr>
          <a:xfrm>
            <a:off x="6359237" y="2036259"/>
            <a:ext cx="256309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D13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Reach</a:t>
            </a:r>
          </a:p>
          <a:p>
            <a:endParaRPr lang="en-US" sz="2000" b="1" dirty="0">
              <a:solidFill>
                <a:srgbClr val="0D131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student reach across various digital and on-campus channels in India</a:t>
            </a:r>
            <a:r>
              <a:rPr lang="en-US" sz="16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7F7FCA-5145-ECCE-03B8-3AACBEF950DB}"/>
              </a:ext>
            </a:extLst>
          </p:cNvPr>
          <p:cNvSpPr txBox="1"/>
          <p:nvPr/>
        </p:nvSpPr>
        <p:spPr>
          <a:xfrm>
            <a:off x="9421092" y="833941"/>
            <a:ext cx="1201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D131D"/>
                </a:solidFill>
                <a:effectLst/>
                <a:latin typeface="Plus Jakarta Sans"/>
              </a:rPr>
              <a:t>500+</a:t>
            </a:r>
            <a:endParaRPr lang="en-US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7BA7F9-5B64-9A24-3D5B-F01C53EC600A}"/>
              </a:ext>
            </a:extLst>
          </p:cNvPr>
          <p:cNvSpPr txBox="1"/>
          <p:nvPr/>
        </p:nvSpPr>
        <p:spPr>
          <a:xfrm>
            <a:off x="9164782" y="2036259"/>
            <a:ext cx="26877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D13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College Collaborations</a:t>
            </a:r>
          </a:p>
          <a:p>
            <a:endParaRPr lang="en-US" b="1" i="0" dirty="0">
              <a:solidFill>
                <a:srgbClr val="0D131D"/>
              </a:solidFill>
              <a:effectLst/>
              <a:latin typeface="Plus Jakarta Sans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Partnerships established with educational institutions to provide student exposure.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4D8D3B-9DA8-9ABB-573D-E6AF1C57C9BF}"/>
              </a:ext>
            </a:extLst>
          </p:cNvPr>
          <p:cNvSpPr txBox="1"/>
          <p:nvPr/>
        </p:nvSpPr>
        <p:spPr>
          <a:xfrm>
            <a:off x="6355773" y="5048013"/>
            <a:ext cx="5618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0D13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Companies Connected</a:t>
            </a:r>
          </a:p>
          <a:p>
            <a:endParaRPr lang="en-US" sz="2000" b="1" i="0" dirty="0">
              <a:solidFill>
                <a:srgbClr val="0D131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and startups utilizing the platform to find young talent.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192927-36B4-8189-0405-0FC84F162F97}"/>
              </a:ext>
            </a:extLst>
          </p:cNvPr>
          <p:cNvSpPr txBox="1"/>
          <p:nvPr/>
        </p:nvSpPr>
        <p:spPr>
          <a:xfrm>
            <a:off x="6477001" y="4316633"/>
            <a:ext cx="1163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D131D"/>
                </a:solidFill>
                <a:latin typeface="Plus Jakarta Sans"/>
              </a:rPr>
              <a:t>5</a:t>
            </a:r>
            <a:r>
              <a:rPr lang="en-US" sz="3600" b="0" i="0" dirty="0">
                <a:solidFill>
                  <a:srgbClr val="0D131D"/>
                </a:solidFill>
                <a:effectLst/>
                <a:latin typeface="Plus Jakarta Sans"/>
              </a:rPr>
              <a:t>K+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0722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 animBg="1"/>
      <p:bldP spid="11" grpId="0" animBg="1"/>
      <p:bldP spid="12" grpId="0" animBg="1"/>
      <p:bldP spid="14" grpId="0"/>
      <p:bldP spid="16" grpId="0"/>
      <p:bldP spid="18" grpId="0"/>
      <p:bldP spid="20" grpId="0"/>
      <p:bldP spid="22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0946B93-5E92-C664-86D1-D5298EE90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537" y="1690688"/>
            <a:ext cx="4314925" cy="44363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75DE7A-E5C6-456D-F757-6D0BEE7C5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988" y="-3547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SWOT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br>
              <a:rPr lang="en-US" b="1" dirty="0"/>
            </a:br>
            <a:r>
              <a:rPr lang="en-US" sz="1600" dirty="0"/>
              <a:t>Analyzing internal strengths and external market dynamics to ensure long-term platform viability.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F9C32-4468-1FE3-0858-1BAE940C5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074168" cy="1849005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  <a:p>
            <a:pPr marL="0" indent="0" algn="r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focused platform dedicated specifically to student opportunities and growth. Rapidly growing network of nationwide student communities and college partners. A comprehensive, multi-service platform that addresses various student career needs.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1DA51-4BCE-A21C-EA24-5B3EF0BE05A5}"/>
              </a:ext>
            </a:extLst>
          </p:cNvPr>
          <p:cNvSpPr txBox="1"/>
          <p:nvPr/>
        </p:nvSpPr>
        <p:spPr>
          <a:xfrm>
            <a:off x="995988" y="3908858"/>
            <a:ext cx="2942549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b="1" i="0" dirty="0">
                <a:solidFill>
                  <a:srgbClr val="0D13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Threats</a:t>
            </a:r>
          </a:p>
          <a:p>
            <a:pPr algn="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competition from large</a:t>
            </a:r>
          </a:p>
          <a:p>
            <a:pPr algn="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platforms like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Internshala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LinkedIn, and major EdTech firms. Volatility and fast-paced changes within the global job and educational technology markets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327A50-1EDA-7D78-B824-B2892A9CD7DD}"/>
              </a:ext>
            </a:extLst>
          </p:cNvPr>
          <p:cNvSpPr txBox="1"/>
          <p:nvPr/>
        </p:nvSpPr>
        <p:spPr>
          <a:xfrm>
            <a:off x="8279632" y="1736387"/>
            <a:ext cx="339975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0D13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Weaknesses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brand recognition when compared to established global professional platforms. Resource constraints typical of a growing startup seeking to scale operations rapidly. Need for deeper brand penetration in tier-2 and tier-3 city universities.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37EC5-0FF5-A586-1413-5BE6C735A410}"/>
              </a:ext>
            </a:extLst>
          </p:cNvPr>
          <p:cNvSpPr txBox="1"/>
          <p:nvPr/>
        </p:nvSpPr>
        <p:spPr>
          <a:xfrm>
            <a:off x="8279632" y="3908858"/>
            <a:ext cx="3496732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Growing national demand for digital career discovery and remote internship platforms. Expansion potential into more specialized industrial sectors and international universities. Developing advanced AI-driven tools for better student-opportunity matching.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FF8835-DDC6-217A-2029-C4F02285DA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1" t="3462" r="3860" b="7557"/>
          <a:stretch>
            <a:fillRect/>
          </a:stretch>
        </p:blipFill>
        <p:spPr>
          <a:xfrm>
            <a:off x="251828" y="177639"/>
            <a:ext cx="481210" cy="4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0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388CC-D665-F5BE-289D-93A57D130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10" y="329335"/>
            <a:ext cx="8001000" cy="1089602"/>
          </a:xfrm>
        </p:spPr>
        <p:txBody>
          <a:bodyPr>
            <a:normAutofit fontScale="90000"/>
          </a:bodyPr>
          <a:lstStyle/>
          <a:p>
            <a:r>
              <a:rPr lang="en-US" sz="22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/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Growth Recommendations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80975-E8E6-0F98-6483-93786D5D2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456" y="1687079"/>
            <a:ext cx="9788235" cy="3495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strategic initiatives to enhance the platform and solidify our market position in the EdTech space.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B89BFA-5950-C83D-B835-279B80EAEC87}"/>
              </a:ext>
            </a:extLst>
          </p:cNvPr>
          <p:cNvSpPr/>
          <p:nvPr/>
        </p:nvSpPr>
        <p:spPr>
          <a:xfrm>
            <a:off x="353293" y="3214255"/>
            <a:ext cx="2195944" cy="3314410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78EE83-6379-6158-587B-FFD15AE328F6}"/>
              </a:ext>
            </a:extLst>
          </p:cNvPr>
          <p:cNvSpPr/>
          <p:nvPr/>
        </p:nvSpPr>
        <p:spPr>
          <a:xfrm>
            <a:off x="2667003" y="3214255"/>
            <a:ext cx="2195944" cy="3314410"/>
          </a:xfrm>
          <a:prstGeom prst="roundRect">
            <a:avLst/>
          </a:prstGeom>
          <a:solidFill>
            <a:schemeClr val="accent3">
              <a:lumMod val="20000"/>
              <a:lumOff val="8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44B11-93E0-6BF2-20A4-F203DAF153DA}"/>
              </a:ext>
            </a:extLst>
          </p:cNvPr>
          <p:cNvSpPr/>
          <p:nvPr/>
        </p:nvSpPr>
        <p:spPr>
          <a:xfrm>
            <a:off x="4980713" y="3214255"/>
            <a:ext cx="2195944" cy="331441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EB311E7-35D9-36F6-E84C-021E86CD0645}"/>
              </a:ext>
            </a:extLst>
          </p:cNvPr>
          <p:cNvSpPr/>
          <p:nvPr/>
        </p:nvSpPr>
        <p:spPr>
          <a:xfrm>
            <a:off x="7294423" y="3214255"/>
            <a:ext cx="2195944" cy="3314410"/>
          </a:xfrm>
          <a:prstGeom prst="roundRect">
            <a:avLst/>
          </a:prstGeom>
          <a:solidFill>
            <a:srgbClr val="FFFF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ECE54A1-ADA5-2703-3898-5A58DE1144A2}"/>
              </a:ext>
            </a:extLst>
          </p:cNvPr>
          <p:cNvSpPr/>
          <p:nvPr/>
        </p:nvSpPr>
        <p:spPr>
          <a:xfrm>
            <a:off x="9635843" y="3214255"/>
            <a:ext cx="2195944" cy="3314410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263AB6-AFB1-05C9-04E5-E9D5C5AC89D7}"/>
              </a:ext>
            </a:extLst>
          </p:cNvPr>
          <p:cNvSpPr txBox="1"/>
          <p:nvPr/>
        </p:nvSpPr>
        <p:spPr>
          <a:xfrm>
            <a:off x="678867" y="4418402"/>
            <a:ext cx="21751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131D"/>
                </a:solidFill>
                <a:effectLst/>
                <a:latin typeface="Plus Jakarta Sans"/>
              </a:rPr>
              <a:t>Aggressively increase </a:t>
            </a:r>
            <a:r>
              <a:rPr lang="en-US" b="0" i="1" dirty="0">
                <a:solidFill>
                  <a:srgbClr val="555B66"/>
                </a:solidFill>
                <a:effectLst/>
                <a:latin typeface="Plus Jakarta Sans"/>
              </a:rPr>
              <a:t>digital marketing</a:t>
            </a:r>
            <a:r>
              <a:rPr lang="en-US" b="0" i="0" dirty="0">
                <a:solidFill>
                  <a:srgbClr val="0D131D"/>
                </a:solidFill>
                <a:effectLst/>
                <a:latin typeface="Plus Jakarta Sans"/>
              </a:rPr>
              <a:t> and student-focused social media engagement.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2DF763-2373-897F-4BC5-BEB2B84F49E9}"/>
              </a:ext>
            </a:extLst>
          </p:cNvPr>
          <p:cNvSpPr txBox="1"/>
          <p:nvPr/>
        </p:nvSpPr>
        <p:spPr>
          <a:xfrm>
            <a:off x="2854036" y="4413085"/>
            <a:ext cx="17472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131D"/>
                </a:solidFill>
                <a:effectLst/>
                <a:latin typeface="Plus Jakarta Sans"/>
              </a:rPr>
              <a:t>Deepen partnerships with a wider variety of </a:t>
            </a:r>
            <a:r>
              <a:rPr lang="en-US" b="0" i="1" dirty="0">
                <a:solidFill>
                  <a:srgbClr val="555B66"/>
                </a:solidFill>
                <a:effectLst/>
                <a:latin typeface="Plus Jakarta Sans"/>
              </a:rPr>
              <a:t>tier-2 and tier-3 colleges</a:t>
            </a:r>
            <a:r>
              <a:rPr lang="en-US" b="0" i="0" dirty="0">
                <a:solidFill>
                  <a:srgbClr val="0D131D"/>
                </a:solidFill>
                <a:effectLst/>
                <a:latin typeface="Plus Jakarta Sans"/>
              </a:rPr>
              <a:t> for inclusivity.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80FB40-289D-4F03-1F41-9E70D49355D2}"/>
              </a:ext>
            </a:extLst>
          </p:cNvPr>
          <p:cNvSpPr txBox="1"/>
          <p:nvPr/>
        </p:nvSpPr>
        <p:spPr>
          <a:xfrm>
            <a:off x="5119254" y="4418402"/>
            <a:ext cx="21751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131D"/>
                </a:solidFill>
                <a:effectLst/>
                <a:latin typeface="Plus Jakarta Sans"/>
              </a:rPr>
              <a:t>Launch more </a:t>
            </a:r>
            <a:r>
              <a:rPr lang="en-US" b="0" i="1" dirty="0">
                <a:solidFill>
                  <a:srgbClr val="555B66"/>
                </a:solidFill>
                <a:effectLst/>
                <a:latin typeface="Plus Jakarta Sans"/>
              </a:rPr>
              <a:t>industry-focused</a:t>
            </a:r>
            <a:r>
              <a:rPr lang="en-US" b="0" i="0" dirty="0">
                <a:solidFill>
                  <a:srgbClr val="0D131D"/>
                </a:solidFill>
                <a:effectLst/>
                <a:latin typeface="Plus Jakarta Sans"/>
              </a:rPr>
              <a:t> training programs and certifications for high-demand skills.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0FB745-AB65-D3E0-9905-99536F1E191B}"/>
              </a:ext>
            </a:extLst>
          </p:cNvPr>
          <p:cNvSpPr txBox="1"/>
          <p:nvPr/>
        </p:nvSpPr>
        <p:spPr>
          <a:xfrm>
            <a:off x="7412189" y="4418402"/>
            <a:ext cx="18738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131D"/>
                </a:solidFill>
                <a:effectLst/>
                <a:latin typeface="Plus Jakarta Sans"/>
              </a:rPr>
              <a:t>Improve </a:t>
            </a:r>
            <a:r>
              <a:rPr lang="en-US" b="0" i="1" dirty="0">
                <a:solidFill>
                  <a:srgbClr val="555B66"/>
                </a:solidFill>
                <a:effectLst/>
                <a:latin typeface="Plus Jakarta Sans"/>
              </a:rPr>
              <a:t>platform discovery</a:t>
            </a:r>
            <a:r>
              <a:rPr lang="en-US" b="0" i="0" dirty="0">
                <a:solidFill>
                  <a:srgbClr val="0D131D"/>
                </a:solidFill>
                <a:effectLst/>
                <a:latin typeface="Plus Jakarta Sans"/>
              </a:rPr>
              <a:t> features to better match students with relevant opportunities.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16FC6B-CEFE-7F44-FC4A-A77BC1B5CA84}"/>
              </a:ext>
            </a:extLst>
          </p:cNvPr>
          <p:cNvSpPr txBox="1"/>
          <p:nvPr/>
        </p:nvSpPr>
        <p:spPr>
          <a:xfrm>
            <a:off x="9822877" y="4418402"/>
            <a:ext cx="2015830" cy="1788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131D"/>
                </a:solidFill>
                <a:effectLst/>
                <a:latin typeface="Plus Jakarta Sans"/>
              </a:rPr>
              <a:t>Establish a robust </a:t>
            </a:r>
            <a:r>
              <a:rPr lang="en-US" b="0" i="1" dirty="0">
                <a:solidFill>
                  <a:srgbClr val="555B66"/>
                </a:solidFill>
                <a:effectLst/>
                <a:latin typeface="Plus Jakarta Sans"/>
              </a:rPr>
              <a:t>student mentorship</a:t>
            </a:r>
            <a:r>
              <a:rPr lang="en-US" b="0" i="0" dirty="0">
                <a:solidFill>
                  <a:srgbClr val="0D131D"/>
                </a:solidFill>
                <a:effectLst/>
                <a:latin typeface="Plus Jakarta Sans"/>
              </a:rPr>
              <a:t> and career guidance system for long-term support.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81C74-C849-A8A7-9FB5-534434B5DCB9}"/>
              </a:ext>
            </a:extLst>
          </p:cNvPr>
          <p:cNvSpPr txBox="1"/>
          <p:nvPr/>
        </p:nvSpPr>
        <p:spPr>
          <a:xfrm>
            <a:off x="678867" y="3429000"/>
            <a:ext cx="691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1.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FE69F9-69C9-ED29-1120-F299026F140A}"/>
              </a:ext>
            </a:extLst>
          </p:cNvPr>
          <p:cNvSpPr txBox="1"/>
          <p:nvPr/>
        </p:nvSpPr>
        <p:spPr>
          <a:xfrm>
            <a:off x="2898771" y="3429000"/>
            <a:ext cx="691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2.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9E258A-76CB-1465-2FB1-FEA9AB546759}"/>
              </a:ext>
            </a:extLst>
          </p:cNvPr>
          <p:cNvSpPr txBox="1"/>
          <p:nvPr/>
        </p:nvSpPr>
        <p:spPr>
          <a:xfrm>
            <a:off x="5118675" y="3429000"/>
            <a:ext cx="691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3.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F8E0B4-CD3F-76F7-2A2E-60F077C14E27}"/>
              </a:ext>
            </a:extLst>
          </p:cNvPr>
          <p:cNvSpPr txBox="1"/>
          <p:nvPr/>
        </p:nvSpPr>
        <p:spPr>
          <a:xfrm>
            <a:off x="7412189" y="3429000"/>
            <a:ext cx="691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4.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0FCFE9-98CE-EF36-B220-7D9533893749}"/>
              </a:ext>
            </a:extLst>
          </p:cNvPr>
          <p:cNvSpPr txBox="1"/>
          <p:nvPr/>
        </p:nvSpPr>
        <p:spPr>
          <a:xfrm>
            <a:off x="9758098" y="3429000"/>
            <a:ext cx="691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5.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E81BB06-77BF-21FC-EF93-67E0AB3540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1" t="3462" r="3860" b="7557"/>
          <a:stretch>
            <a:fillRect/>
          </a:stretch>
        </p:blipFill>
        <p:spPr>
          <a:xfrm>
            <a:off x="11357497" y="329335"/>
            <a:ext cx="481210" cy="4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3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  <p:bldP spid="12" grpId="0" animBg="1"/>
      <p:bldP spid="13" grpId="0" animBg="1"/>
      <p:bldP spid="14" grpId="0" animBg="1"/>
      <p:bldP spid="15" grpId="0" animBg="1"/>
      <p:bldP spid="17" grpId="0"/>
      <p:bldP spid="19" grpId="0"/>
      <p:bldP spid="21" grpId="0"/>
      <p:bldP spid="23" grpId="0"/>
      <p:bldP spid="25" grpId="0"/>
      <p:bldP spid="27" grpId="0"/>
      <p:bldP spid="28" grpId="0"/>
      <p:bldP spid="29" grpId="0"/>
      <p:bldP spid="30" grpId="0"/>
      <p:bldP spid="3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789</Words>
  <Application>Microsoft Macintosh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Beirut</vt:lpstr>
      <vt:lpstr>Plus Jakarta Sans</vt:lpstr>
      <vt:lpstr>Times New Roman</vt:lpstr>
      <vt:lpstr>Office Theme</vt:lpstr>
      <vt:lpstr>EvePaper: Campus-to-Career Bridge</vt:lpstr>
      <vt:lpstr>Empowering the Next Generation   A New Delhi-based startup redefining student career pathways through skill development and networking. </vt:lpstr>
      <vt:lpstr> Strategy  Driving Professional Development   </vt:lpstr>
      <vt:lpstr>Comprehensive Service Portfolio</vt:lpstr>
      <vt:lpstr>The Triple-Sided Marketplace</vt:lpstr>
      <vt:lpstr>The Eve Universe Ecosystem</vt:lpstr>
      <vt:lpstr>Business Model  Revenue Streams &amp; Value Creation</vt:lpstr>
      <vt:lpstr>Metrics  Market Reach and Impact</vt:lpstr>
      <vt:lpstr>SWOT Analysis Analyzing internal strengths and external market dynamics to ensure long-term platform viability.</vt:lpstr>
      <vt:lpstr>Growth  Future Growth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Yadav [MCA - 2025]</dc:creator>
  <cp:lastModifiedBy>Prince Yadav [MCA - 2025]</cp:lastModifiedBy>
  <cp:revision>5</cp:revision>
  <dcterms:created xsi:type="dcterms:W3CDTF">2026-03-06T18:04:43Z</dcterms:created>
  <dcterms:modified xsi:type="dcterms:W3CDTF">2026-03-09T13:39:10Z</dcterms:modified>
</cp:coreProperties>
</file>